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6" r:id="rId9"/>
  </p:sldIdLst>
  <p:sldSz cx="18288000" cy="10287000"/>
  <p:notesSz cx="6858000" cy="9144000"/>
  <p:embeddedFontLst>
    <p:embeddedFont>
      <p:font typeface="Helvetica World" panose="020B0604020202020204" charset="-128"/>
      <p:regular r:id="rId10"/>
    </p:embeddedFont>
    <p:embeddedFont>
      <p:font typeface="Fredoka" panose="020B0604020202020204" charset="0"/>
      <p:regular r:id="rId11"/>
    </p:embeddedFont>
    <p:embeddedFont>
      <p:font typeface="Open Sauce" panose="020B0604020202020204" charset="0"/>
      <p:regular r:id="rId12"/>
    </p:embeddedFont>
    <p:embeddedFont>
      <p:font typeface="Open Sauce Bold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C3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1194" y="5487115"/>
            <a:ext cx="10569348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8111978" y="7430666"/>
            <a:ext cx="3539246" cy="2383736"/>
            <a:chOff x="0" y="0"/>
            <a:chExt cx="932147" cy="62781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32147" cy="627815"/>
            </a:xfrm>
            <a:custGeom>
              <a:avLst/>
              <a:gdLst/>
              <a:ahLst/>
              <a:cxnLst/>
              <a:rect l="l" t="t" r="r" b="b"/>
              <a:pathLst>
                <a:path w="932147" h="627815">
                  <a:moveTo>
                    <a:pt x="34999" y="0"/>
                  </a:moveTo>
                  <a:lnTo>
                    <a:pt x="897148" y="0"/>
                  </a:lnTo>
                  <a:cubicBezTo>
                    <a:pt x="906430" y="0"/>
                    <a:pt x="915333" y="3687"/>
                    <a:pt x="921896" y="10251"/>
                  </a:cubicBezTo>
                  <a:cubicBezTo>
                    <a:pt x="928460" y="16815"/>
                    <a:pt x="932147" y="25717"/>
                    <a:pt x="932147" y="34999"/>
                  </a:cubicBezTo>
                  <a:lnTo>
                    <a:pt x="932147" y="592816"/>
                  </a:lnTo>
                  <a:cubicBezTo>
                    <a:pt x="932147" y="602098"/>
                    <a:pt x="928460" y="611001"/>
                    <a:pt x="921896" y="617564"/>
                  </a:cubicBezTo>
                  <a:cubicBezTo>
                    <a:pt x="915333" y="624128"/>
                    <a:pt x="906430" y="627815"/>
                    <a:pt x="897148" y="627815"/>
                  </a:cubicBezTo>
                  <a:lnTo>
                    <a:pt x="34999" y="627815"/>
                  </a:lnTo>
                  <a:cubicBezTo>
                    <a:pt x="25717" y="627815"/>
                    <a:pt x="16815" y="624128"/>
                    <a:pt x="10251" y="617564"/>
                  </a:cubicBezTo>
                  <a:cubicBezTo>
                    <a:pt x="3687" y="611001"/>
                    <a:pt x="0" y="602098"/>
                    <a:pt x="0" y="592816"/>
                  </a:cubicBezTo>
                  <a:lnTo>
                    <a:pt x="0" y="34999"/>
                  </a:lnTo>
                  <a:cubicBezTo>
                    <a:pt x="0" y="25717"/>
                    <a:pt x="3687" y="16815"/>
                    <a:pt x="10251" y="10251"/>
                  </a:cubicBezTo>
                  <a:cubicBezTo>
                    <a:pt x="16815" y="3687"/>
                    <a:pt x="25717" y="0"/>
                    <a:pt x="34999" y="0"/>
                  </a:cubicBezTo>
                  <a:close/>
                </a:path>
              </a:pathLst>
            </a:custGeom>
            <a:solidFill>
              <a:srgbClr val="231D60"/>
            </a:solidFill>
            <a:ln w="9525" cap="sq">
              <a:solidFill>
                <a:srgbClr val="5C56A4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932147" cy="6563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6" name="AutoShape 6"/>
          <p:cNvSpPr/>
          <p:nvPr/>
        </p:nvSpPr>
        <p:spPr>
          <a:xfrm>
            <a:off x="12974012" y="5732194"/>
            <a:ext cx="2012838" cy="0"/>
          </a:xfrm>
          <a:prstGeom prst="line">
            <a:avLst/>
          </a:prstGeom>
          <a:ln w="9525" cap="flat">
            <a:solidFill>
              <a:srgbClr val="526E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>
            <a:off x="8875182" y="8316250"/>
            <a:ext cx="2012838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Freeform 8"/>
          <p:cNvSpPr/>
          <p:nvPr/>
        </p:nvSpPr>
        <p:spPr>
          <a:xfrm>
            <a:off x="11806618" y="2338986"/>
            <a:ext cx="6360465" cy="5788024"/>
          </a:xfrm>
          <a:custGeom>
            <a:avLst/>
            <a:gdLst/>
            <a:ahLst/>
            <a:cxnLst/>
            <a:rect l="l" t="t" r="r" b="b"/>
            <a:pathLst>
              <a:path w="6360465" h="5788024">
                <a:moveTo>
                  <a:pt x="0" y="0"/>
                </a:moveTo>
                <a:lnTo>
                  <a:pt x="6360465" y="0"/>
                </a:lnTo>
                <a:lnTo>
                  <a:pt x="6360465" y="5788024"/>
                </a:lnTo>
                <a:lnTo>
                  <a:pt x="0" y="57880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0" y="229715"/>
            <a:ext cx="5066837" cy="2109272"/>
          </a:xfrm>
          <a:custGeom>
            <a:avLst/>
            <a:gdLst/>
            <a:ahLst/>
            <a:cxnLst/>
            <a:rect l="l" t="t" r="r" b="b"/>
            <a:pathLst>
              <a:path w="5066837" h="2109272">
                <a:moveTo>
                  <a:pt x="0" y="0"/>
                </a:moveTo>
                <a:lnTo>
                  <a:pt x="5066837" y="0"/>
                </a:lnTo>
                <a:lnTo>
                  <a:pt x="5066837" y="2109271"/>
                </a:lnTo>
                <a:lnTo>
                  <a:pt x="0" y="21092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8174545" y="8559137"/>
            <a:ext cx="3497535" cy="1255265"/>
            <a:chOff x="0" y="0"/>
            <a:chExt cx="921161" cy="33060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21162" cy="330605"/>
            </a:xfrm>
            <a:custGeom>
              <a:avLst/>
              <a:gdLst/>
              <a:ahLst/>
              <a:cxnLst/>
              <a:rect l="l" t="t" r="r" b="b"/>
              <a:pathLst>
                <a:path w="921162" h="330605">
                  <a:moveTo>
                    <a:pt x="0" y="0"/>
                  </a:moveTo>
                  <a:lnTo>
                    <a:pt x="921162" y="0"/>
                  </a:lnTo>
                  <a:lnTo>
                    <a:pt x="921162" y="330605"/>
                  </a:lnTo>
                  <a:lnTo>
                    <a:pt x="0" y="330605"/>
                  </a:lnTo>
                  <a:close/>
                </a:path>
              </a:pathLst>
            </a:custGeom>
            <a:solidFill>
              <a:srgbClr val="231D60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921161" cy="3687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 spc="-37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M. Laasya Sri     2520090196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 spc="-37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M. Rajini             2520090197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9121463" y="7820304"/>
            <a:ext cx="1561987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 spc="-35">
                <a:solidFill>
                  <a:srgbClr val="F2F1FF"/>
                </a:solidFill>
                <a:latin typeface="Open Sauce"/>
                <a:ea typeface="Open Sauce"/>
                <a:cs typeface="Open Sauce"/>
                <a:sym typeface="Open Sauce"/>
              </a:rPr>
              <a:t>Presented by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83175" y="4045012"/>
            <a:ext cx="10687367" cy="11946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52"/>
              </a:lnSpc>
              <a:spcBef>
                <a:spcPct val="0"/>
              </a:spcBef>
            </a:pPr>
            <a:r>
              <a:rPr lang="en-US" sz="6966" spc="-139">
                <a:solidFill>
                  <a:srgbClr val="231D60"/>
                </a:solidFill>
                <a:latin typeface="Fredoka"/>
                <a:ea typeface="Fredoka"/>
                <a:cs typeface="Fredoka"/>
                <a:sym typeface="Fredoka"/>
              </a:rPr>
              <a:t>Delivery Route Optimizer</a:t>
            </a:r>
          </a:p>
        </p:txBody>
      </p:sp>
      <p:sp>
        <p:nvSpPr>
          <p:cNvPr id="15" name="Freeform 15"/>
          <p:cNvSpPr/>
          <p:nvPr/>
        </p:nvSpPr>
        <p:spPr>
          <a:xfrm>
            <a:off x="1600200" y="6438900"/>
            <a:ext cx="3754669" cy="3393282"/>
          </a:xfrm>
          <a:custGeom>
            <a:avLst/>
            <a:gdLst/>
            <a:ahLst/>
            <a:cxnLst/>
            <a:rect l="l" t="t" r="r" b="b"/>
            <a:pathLst>
              <a:path w="3754669" h="3393282">
                <a:moveTo>
                  <a:pt x="0" y="0"/>
                </a:moveTo>
                <a:lnTo>
                  <a:pt x="3754669" y="0"/>
                </a:lnTo>
                <a:lnTo>
                  <a:pt x="3754669" y="3393282"/>
                </a:lnTo>
                <a:lnTo>
                  <a:pt x="0" y="33932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C3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17701" y="361554"/>
            <a:ext cx="8866925" cy="1801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735"/>
              </a:lnSpc>
            </a:pPr>
            <a:r>
              <a:rPr lang="en-US" sz="13207" spc="-528">
                <a:solidFill>
                  <a:srgbClr val="F2F1FF"/>
                </a:solidFill>
                <a:latin typeface="Open Sauce"/>
                <a:ea typeface="Open Sauce"/>
                <a:cs typeface="Open Sauce"/>
                <a:sym typeface="Open Sauce"/>
              </a:rPr>
              <a:t> Abstract</a:t>
            </a:r>
          </a:p>
        </p:txBody>
      </p:sp>
      <p:sp>
        <p:nvSpPr>
          <p:cNvPr id="3" name="AutoShape 3"/>
          <p:cNvSpPr/>
          <p:nvPr/>
        </p:nvSpPr>
        <p:spPr>
          <a:xfrm>
            <a:off x="717701" y="1943100"/>
            <a:ext cx="7211435" cy="27712"/>
          </a:xfrm>
          <a:prstGeom prst="line">
            <a:avLst/>
          </a:prstGeom>
          <a:ln w="9525" cap="flat">
            <a:solidFill>
              <a:srgbClr val="5C56A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12589644" y="704807"/>
            <a:ext cx="4669656" cy="4438693"/>
          </a:xfrm>
          <a:custGeom>
            <a:avLst/>
            <a:gdLst/>
            <a:ahLst/>
            <a:cxnLst/>
            <a:rect l="l" t="t" r="r" b="b"/>
            <a:pathLst>
              <a:path w="4669656" h="4438693">
                <a:moveTo>
                  <a:pt x="0" y="0"/>
                </a:moveTo>
                <a:lnTo>
                  <a:pt x="4669656" y="0"/>
                </a:lnTo>
                <a:lnTo>
                  <a:pt x="4669656" y="4438693"/>
                </a:lnTo>
                <a:lnTo>
                  <a:pt x="0" y="44386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52844" y="2552700"/>
            <a:ext cx="11367756" cy="49859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3200" spc="-59" dirty="0">
                <a:solidFill>
                  <a:schemeClr val="bg1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IN" sz="3600" dirty="0">
                <a:solidFill>
                  <a:schemeClr val="bg1"/>
                </a:solidFill>
              </a:rPr>
              <a:t>Helps logistics companies plan </a:t>
            </a:r>
            <a:r>
              <a:rPr lang="en-IN" sz="3600" b="1" dirty="0">
                <a:solidFill>
                  <a:schemeClr val="bg1"/>
                </a:solidFill>
              </a:rPr>
              <a:t>efficient delivery routes</a:t>
            </a:r>
            <a:r>
              <a:rPr lang="en-IN" sz="3600" dirty="0">
                <a:solidFill>
                  <a:schemeClr val="bg1"/>
                </a:solidFill>
              </a:rPr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bg1"/>
                </a:solidFill>
              </a:rPr>
              <a:t>Takes </a:t>
            </a:r>
            <a:r>
              <a:rPr lang="en-IN" sz="3600" b="1" dirty="0">
                <a:solidFill>
                  <a:schemeClr val="bg1"/>
                </a:solidFill>
              </a:rPr>
              <a:t>customer addresses and delivery details</a:t>
            </a:r>
            <a:r>
              <a:rPr lang="en-IN" sz="3600" dirty="0">
                <a:solidFill>
                  <a:schemeClr val="bg1"/>
                </a:solidFill>
              </a:rPr>
              <a:t> as input.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bg1"/>
                </a:solidFill>
              </a:rPr>
              <a:t>Cleans </a:t>
            </a:r>
            <a:r>
              <a:rPr lang="en-IN" sz="3600" b="1" dirty="0">
                <a:solidFill>
                  <a:schemeClr val="bg1"/>
                </a:solidFill>
              </a:rPr>
              <a:t>incorrect, duplicate, or incomplete address data</a:t>
            </a:r>
            <a:r>
              <a:rPr lang="en-IN" sz="3600" dirty="0">
                <a:solidFill>
                  <a:schemeClr val="bg1"/>
                </a:solidFill>
              </a:rPr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bg1"/>
                </a:solidFill>
              </a:rPr>
              <a:t>Assigns delivery stops to vehicles based on </a:t>
            </a:r>
            <a:r>
              <a:rPr lang="en-IN" sz="3600" b="1" dirty="0">
                <a:solidFill>
                  <a:schemeClr val="bg1"/>
                </a:solidFill>
              </a:rPr>
              <a:t>vehicle capacity</a:t>
            </a:r>
            <a:r>
              <a:rPr lang="en-IN" sz="3600" dirty="0">
                <a:solidFill>
                  <a:schemeClr val="bg1"/>
                </a:solidFill>
              </a:rPr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bg1"/>
                </a:solidFill>
              </a:rPr>
              <a:t>Considers </a:t>
            </a:r>
            <a:r>
              <a:rPr lang="en-IN" sz="3600" b="1" dirty="0">
                <a:solidFill>
                  <a:schemeClr val="bg1"/>
                </a:solidFill>
              </a:rPr>
              <a:t>delivery time windows</a:t>
            </a:r>
            <a:r>
              <a:rPr lang="en-IN" sz="3600" dirty="0">
                <a:solidFill>
                  <a:schemeClr val="bg1"/>
                </a:solidFill>
              </a:rPr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bg1"/>
                </a:solidFill>
              </a:rPr>
              <a:t>Finds routes with </a:t>
            </a:r>
            <a:r>
              <a:rPr lang="en-IN" sz="3600" b="1" dirty="0">
                <a:solidFill>
                  <a:schemeClr val="bg1"/>
                </a:solidFill>
              </a:rPr>
              <a:t>less distance and travel time</a:t>
            </a:r>
            <a:r>
              <a:rPr lang="en-IN" sz="3600" dirty="0">
                <a:solidFill>
                  <a:schemeClr val="bg1"/>
                </a:solidFill>
              </a:rPr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bg1"/>
                </a:solidFill>
              </a:rPr>
              <a:t>Reduces </a:t>
            </a:r>
            <a:r>
              <a:rPr lang="en-IN" sz="3600" b="1" dirty="0">
                <a:solidFill>
                  <a:schemeClr val="bg1"/>
                </a:solidFill>
              </a:rPr>
              <a:t>fuel consumption and transportation cost</a:t>
            </a:r>
            <a:r>
              <a:rPr lang="en-IN" sz="3600" dirty="0">
                <a:solidFill>
                  <a:schemeClr val="bg1"/>
                </a:solidFill>
              </a:rPr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bg1"/>
                </a:solidFill>
              </a:rPr>
              <a:t>Provides </a:t>
            </a:r>
            <a:r>
              <a:rPr lang="en-IN" sz="3600" b="1" dirty="0">
                <a:solidFill>
                  <a:schemeClr val="bg1"/>
                </a:solidFill>
              </a:rPr>
              <a:t>optimized routes and route-quality reports</a:t>
            </a:r>
            <a:r>
              <a:rPr lang="en-IN" sz="3600" dirty="0">
                <a:solidFill>
                  <a:schemeClr val="bg1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C3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916276" y="1491681"/>
            <a:ext cx="5281031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1375059" y="1744877"/>
            <a:ext cx="15570112" cy="8336683"/>
            <a:chOff x="0" y="0"/>
            <a:chExt cx="4100770" cy="219567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100770" cy="2195669"/>
            </a:xfrm>
            <a:custGeom>
              <a:avLst/>
              <a:gdLst/>
              <a:ahLst/>
              <a:cxnLst/>
              <a:rect l="l" t="t" r="r" b="b"/>
              <a:pathLst>
                <a:path w="4100770" h="2195669">
                  <a:moveTo>
                    <a:pt x="7956" y="0"/>
                  </a:moveTo>
                  <a:lnTo>
                    <a:pt x="4092815" y="0"/>
                  </a:lnTo>
                  <a:cubicBezTo>
                    <a:pt x="4094924" y="0"/>
                    <a:pt x="4096948" y="838"/>
                    <a:pt x="4098440" y="2330"/>
                  </a:cubicBezTo>
                  <a:cubicBezTo>
                    <a:pt x="4099932" y="3822"/>
                    <a:pt x="4100770" y="5846"/>
                    <a:pt x="4100770" y="7956"/>
                  </a:cubicBezTo>
                  <a:lnTo>
                    <a:pt x="4100770" y="2187714"/>
                  </a:lnTo>
                  <a:cubicBezTo>
                    <a:pt x="4100770" y="2189824"/>
                    <a:pt x="4099932" y="2191847"/>
                    <a:pt x="4098440" y="2193339"/>
                  </a:cubicBezTo>
                  <a:cubicBezTo>
                    <a:pt x="4096948" y="2194831"/>
                    <a:pt x="4094924" y="2195669"/>
                    <a:pt x="4092815" y="2195669"/>
                  </a:cubicBezTo>
                  <a:lnTo>
                    <a:pt x="7956" y="2195669"/>
                  </a:lnTo>
                  <a:cubicBezTo>
                    <a:pt x="3562" y="2195669"/>
                    <a:pt x="0" y="2192108"/>
                    <a:pt x="0" y="2187714"/>
                  </a:cubicBezTo>
                  <a:lnTo>
                    <a:pt x="0" y="7956"/>
                  </a:lnTo>
                  <a:cubicBezTo>
                    <a:pt x="0" y="5846"/>
                    <a:pt x="838" y="3822"/>
                    <a:pt x="2330" y="2330"/>
                  </a:cubicBezTo>
                  <a:cubicBezTo>
                    <a:pt x="3822" y="838"/>
                    <a:pt x="5846" y="0"/>
                    <a:pt x="7956" y="0"/>
                  </a:cubicBezTo>
                  <a:close/>
                </a:path>
              </a:pathLst>
            </a:custGeom>
            <a:solidFill>
              <a:srgbClr val="231D60"/>
            </a:solidFill>
            <a:ln w="9525" cap="sq">
              <a:solidFill>
                <a:srgbClr val="5C56A4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4100770" cy="22242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281824" y="2354913"/>
            <a:ext cx="13756582" cy="7932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9103" lvl="1" indent="-349552" algn="just">
              <a:lnSpc>
                <a:spcPts val="4533"/>
              </a:lnSpc>
              <a:buFont typeface="Arial"/>
              <a:buChar char="•"/>
            </a:pPr>
            <a:r>
              <a:rPr lang="en-US" sz="3238" spc="-64">
                <a:solidFill>
                  <a:srgbClr val="F2F1FF"/>
                </a:solidFill>
                <a:latin typeface="Open Sauce"/>
                <a:ea typeface="Open Sauce"/>
                <a:cs typeface="Open Sauce"/>
                <a:sym typeface="Open Sauce"/>
              </a:rPr>
              <a:t>Logistics companies handle a large number of delivery locations every day.</a:t>
            </a:r>
          </a:p>
          <a:p>
            <a:pPr marL="699103" lvl="1" indent="-349552" algn="just">
              <a:lnSpc>
                <a:spcPts val="4533"/>
              </a:lnSpc>
              <a:buFont typeface="Arial"/>
              <a:buChar char="•"/>
            </a:pPr>
            <a:r>
              <a:rPr lang="en-US" sz="3238" spc="-64">
                <a:solidFill>
                  <a:srgbClr val="F2F1FF"/>
                </a:solidFill>
                <a:latin typeface="Open Sauce"/>
                <a:ea typeface="Open Sauce"/>
                <a:cs typeface="Open Sauce"/>
                <a:sym typeface="Open Sauce"/>
              </a:rPr>
              <a:t>Poor route planning can increase travel distance, fuel consumption, delivery time, and operational costs.</a:t>
            </a:r>
          </a:p>
          <a:p>
            <a:pPr marL="699103" lvl="1" indent="-349552" algn="just">
              <a:lnSpc>
                <a:spcPts val="4533"/>
              </a:lnSpc>
              <a:buFont typeface="Arial"/>
              <a:buChar char="•"/>
            </a:pPr>
            <a:r>
              <a:rPr lang="en-US" sz="3238" spc="-64">
                <a:solidFill>
                  <a:srgbClr val="F2F1FF"/>
                </a:solidFill>
                <a:latin typeface="Open Sauce"/>
                <a:ea typeface="Open Sauce"/>
                <a:cs typeface="Open Sauce"/>
                <a:sym typeface="Open Sauce"/>
              </a:rPr>
              <a:t>Delivery addresses may contain incomplete, duplicated, or inconsistent information.</a:t>
            </a:r>
          </a:p>
          <a:p>
            <a:pPr marL="699103" lvl="1" indent="-349552" algn="just">
              <a:lnSpc>
                <a:spcPts val="4533"/>
              </a:lnSpc>
              <a:buFont typeface="Arial"/>
              <a:buChar char="•"/>
            </a:pPr>
            <a:r>
              <a:rPr lang="en-US" sz="3238" spc="-64">
                <a:solidFill>
                  <a:srgbClr val="F2F1FF"/>
                </a:solidFill>
                <a:latin typeface="Open Sauce"/>
                <a:ea typeface="Open Sauce"/>
                <a:cs typeface="Open Sauce"/>
                <a:sym typeface="Open Sauce"/>
              </a:rPr>
              <a:t>Vehicle capacity and customer delivery time windows add additional constraints.</a:t>
            </a:r>
          </a:p>
          <a:p>
            <a:pPr marL="699103" lvl="1" indent="-349552" algn="just">
              <a:lnSpc>
                <a:spcPts val="4533"/>
              </a:lnSpc>
              <a:buFont typeface="Arial"/>
              <a:buChar char="•"/>
            </a:pPr>
            <a:r>
              <a:rPr lang="en-US" sz="3238" spc="-64">
                <a:solidFill>
                  <a:srgbClr val="F2F1FF"/>
                </a:solidFill>
                <a:latin typeface="Open Sauce"/>
                <a:ea typeface="Open Sauce"/>
                <a:cs typeface="Open Sauce"/>
                <a:sym typeface="Open Sauce"/>
              </a:rPr>
              <a:t>Finding the exact optimal solution for large routing problems is computationally expensive.</a:t>
            </a:r>
          </a:p>
          <a:p>
            <a:pPr marL="699103" lvl="1" indent="-349552" algn="just">
              <a:lnSpc>
                <a:spcPts val="4533"/>
              </a:lnSpc>
              <a:buFont typeface="Arial"/>
              <a:buChar char="•"/>
            </a:pPr>
            <a:r>
              <a:rPr lang="en-US" sz="3238" spc="-64">
                <a:solidFill>
                  <a:srgbClr val="F2F1FF"/>
                </a:solidFill>
                <a:latin typeface="Open Sauce"/>
                <a:ea typeface="Open Sauce"/>
                <a:cs typeface="Open Sauce"/>
                <a:sym typeface="Open Sauce"/>
              </a:rPr>
              <a:t>Therefore, the proposed system uses data cleaning and approximation-based route optimization to generate practical and efficient delivery routes.</a:t>
            </a:r>
          </a:p>
          <a:p>
            <a:pPr algn="just">
              <a:lnSpc>
                <a:spcPts val="4113"/>
              </a:lnSpc>
              <a:spcBef>
                <a:spcPct val="0"/>
              </a:spcBef>
            </a:pPr>
            <a:endParaRPr lang="en-US" sz="3238" spc="-64">
              <a:solidFill>
                <a:srgbClr val="F2F1FF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32230" y="20661"/>
            <a:ext cx="3082094" cy="2839379"/>
          </a:xfrm>
          <a:custGeom>
            <a:avLst/>
            <a:gdLst/>
            <a:ahLst/>
            <a:cxnLst/>
            <a:rect l="l" t="t" r="r" b="b"/>
            <a:pathLst>
              <a:path w="3082094" h="2839379">
                <a:moveTo>
                  <a:pt x="0" y="0"/>
                </a:moveTo>
                <a:lnTo>
                  <a:pt x="3082094" y="0"/>
                </a:lnTo>
                <a:lnTo>
                  <a:pt x="3082094" y="2839379"/>
                </a:lnTo>
                <a:lnTo>
                  <a:pt x="0" y="28393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6171553" y="326135"/>
            <a:ext cx="5025754" cy="11142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519"/>
              </a:lnSpc>
              <a:spcBef>
                <a:spcPct val="0"/>
              </a:spcBef>
            </a:pPr>
            <a:r>
              <a:rPr lang="en-US" sz="6799" spc="-135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Introduction</a:t>
            </a:r>
          </a:p>
        </p:txBody>
      </p:sp>
      <p:sp>
        <p:nvSpPr>
          <p:cNvPr id="9" name="Freeform 9"/>
          <p:cNvSpPr/>
          <p:nvPr/>
        </p:nvSpPr>
        <p:spPr>
          <a:xfrm>
            <a:off x="15263486" y="0"/>
            <a:ext cx="3024514" cy="2843043"/>
          </a:xfrm>
          <a:custGeom>
            <a:avLst/>
            <a:gdLst/>
            <a:ahLst/>
            <a:cxnLst/>
            <a:rect l="l" t="t" r="r" b="b"/>
            <a:pathLst>
              <a:path w="3024514" h="2843043">
                <a:moveTo>
                  <a:pt x="0" y="0"/>
                </a:moveTo>
                <a:lnTo>
                  <a:pt x="3024514" y="0"/>
                </a:lnTo>
                <a:lnTo>
                  <a:pt x="3024514" y="2843043"/>
                </a:lnTo>
                <a:lnTo>
                  <a:pt x="0" y="28430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C3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343400" y="385212"/>
            <a:ext cx="11687867" cy="1140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39"/>
              </a:lnSpc>
            </a:pPr>
            <a:r>
              <a:rPr lang="en-US" sz="8307" spc="-332" dirty="0">
                <a:solidFill>
                  <a:srgbClr val="F2F1FF"/>
                </a:solidFill>
                <a:latin typeface="Open Sauce"/>
                <a:ea typeface="Open Sauce"/>
                <a:cs typeface="Open Sauce"/>
                <a:sym typeface="Open Sauce"/>
              </a:rPr>
              <a:t>Software Requirements</a:t>
            </a:r>
          </a:p>
        </p:txBody>
      </p:sp>
      <p:sp>
        <p:nvSpPr>
          <p:cNvPr id="3" name="AutoShape 3"/>
          <p:cNvSpPr/>
          <p:nvPr/>
        </p:nvSpPr>
        <p:spPr>
          <a:xfrm>
            <a:off x="3964466" y="1574519"/>
            <a:ext cx="11838201" cy="0"/>
          </a:xfrm>
          <a:prstGeom prst="line">
            <a:avLst/>
          </a:prstGeom>
          <a:ln w="9525" cap="flat">
            <a:solidFill>
              <a:srgbClr val="5C56A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0" y="6596211"/>
            <a:ext cx="3616915" cy="3738414"/>
          </a:xfrm>
          <a:custGeom>
            <a:avLst/>
            <a:gdLst/>
            <a:ahLst/>
            <a:cxnLst/>
            <a:rect l="l" t="t" r="r" b="b"/>
            <a:pathLst>
              <a:path w="3616915" h="3738414">
                <a:moveTo>
                  <a:pt x="0" y="0"/>
                </a:moveTo>
                <a:lnTo>
                  <a:pt x="3616915" y="0"/>
                </a:lnTo>
                <a:lnTo>
                  <a:pt x="3616915" y="3738414"/>
                </a:lnTo>
                <a:lnTo>
                  <a:pt x="0" y="37384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3555205" y="2006765"/>
            <a:ext cx="14289893" cy="7708733"/>
            <a:chOff x="0" y="-76200"/>
            <a:chExt cx="3763593" cy="2030284"/>
          </a:xfrm>
        </p:grpSpPr>
        <p:sp>
          <p:nvSpPr>
            <p:cNvPr id="15" name="Freeform 15"/>
            <p:cNvSpPr/>
            <p:nvPr/>
          </p:nvSpPr>
          <p:spPr>
            <a:xfrm>
              <a:off x="0" y="-76200"/>
              <a:ext cx="3763593" cy="1873808"/>
            </a:xfrm>
            <a:custGeom>
              <a:avLst/>
              <a:gdLst/>
              <a:ahLst/>
              <a:cxnLst/>
              <a:rect l="l" t="t" r="r" b="b"/>
              <a:pathLst>
                <a:path w="3763593" h="2053082">
                  <a:moveTo>
                    <a:pt x="8668" y="0"/>
                  </a:moveTo>
                  <a:lnTo>
                    <a:pt x="3754925" y="0"/>
                  </a:lnTo>
                  <a:cubicBezTo>
                    <a:pt x="3759712" y="0"/>
                    <a:pt x="3763593" y="3881"/>
                    <a:pt x="3763593" y="8668"/>
                  </a:cubicBezTo>
                  <a:lnTo>
                    <a:pt x="3763593" y="2044413"/>
                  </a:lnTo>
                  <a:cubicBezTo>
                    <a:pt x="3763593" y="2049201"/>
                    <a:pt x="3759712" y="2053082"/>
                    <a:pt x="3754925" y="2053082"/>
                  </a:cubicBezTo>
                  <a:lnTo>
                    <a:pt x="8668" y="2053082"/>
                  </a:lnTo>
                  <a:cubicBezTo>
                    <a:pt x="3881" y="2053082"/>
                    <a:pt x="0" y="2049201"/>
                    <a:pt x="0" y="2044413"/>
                  </a:cubicBezTo>
                  <a:lnTo>
                    <a:pt x="0" y="8668"/>
                  </a:lnTo>
                  <a:cubicBezTo>
                    <a:pt x="0" y="3881"/>
                    <a:pt x="3881" y="0"/>
                    <a:pt x="8668" y="0"/>
                  </a:cubicBezTo>
                  <a:close/>
                </a:path>
              </a:pathLst>
            </a:custGeom>
            <a:solidFill>
              <a:srgbClr val="231D60"/>
            </a:solidFill>
            <a:ln w="9525" cap="sq">
              <a:solidFill>
                <a:srgbClr val="5C56A4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76200"/>
              <a:ext cx="3763593" cy="20302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5459"/>
                </a:lnSpc>
              </a:pPr>
              <a:r>
                <a:rPr lang="en-US" sz="3899" spc="-77" dirty="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               Software                                       Requirement   </a:t>
              </a:r>
            </a:p>
            <a:p>
              <a:pPr algn="l">
                <a:lnSpc>
                  <a:spcPts val="3219"/>
                </a:lnSpc>
              </a:pPr>
              <a:r>
                <a:rPr lang="en-US" sz="2299" spc="-45" dirty="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                                                                                </a:t>
              </a:r>
            </a:p>
            <a:p>
              <a:pPr algn="l">
                <a:lnSpc>
                  <a:spcPts val="3219"/>
                </a:lnSpc>
              </a:pPr>
              <a:r>
                <a:rPr lang="en-US" sz="2299" spc="-45" dirty="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                    Operating System                                                  Windows 10/11 or Linux</a:t>
              </a:r>
            </a:p>
            <a:p>
              <a:pPr algn="l">
                <a:lnSpc>
                  <a:spcPts val="3219"/>
                </a:lnSpc>
              </a:pPr>
              <a:r>
                <a:rPr lang="en-US" sz="2299" spc="-45" dirty="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                    Programming Language                                        Python</a:t>
              </a:r>
            </a:p>
            <a:p>
              <a:pPr algn="l">
                <a:lnSpc>
                  <a:spcPts val="3219"/>
                </a:lnSpc>
              </a:pPr>
              <a:r>
                <a:rPr lang="en-US" sz="2299" spc="-45" dirty="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                    Frontend                                                                   HTML, CSS, JavaScript</a:t>
              </a:r>
            </a:p>
            <a:p>
              <a:pPr algn="l">
                <a:lnSpc>
                  <a:spcPts val="3219"/>
                </a:lnSpc>
              </a:pPr>
              <a:r>
                <a:rPr lang="en-US" sz="2299" spc="-45" dirty="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                    Back                                                                          Python Flask</a:t>
              </a:r>
            </a:p>
            <a:p>
              <a:pPr algn="l">
                <a:lnSpc>
                  <a:spcPts val="3219"/>
                </a:lnSpc>
              </a:pPr>
              <a:r>
                <a:rPr lang="en-US" sz="2299" spc="-45" dirty="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                    Database                                                                  MySQL / SQLite </a:t>
              </a:r>
            </a:p>
            <a:p>
              <a:pPr algn="l">
                <a:lnSpc>
                  <a:spcPts val="3219"/>
                </a:lnSpc>
              </a:pPr>
              <a:r>
                <a:rPr lang="en-US" sz="2299" spc="-45" dirty="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                    IDE / Editor                                                               Visual Studio Code</a:t>
              </a:r>
            </a:p>
            <a:p>
              <a:pPr algn="l">
                <a:lnSpc>
                  <a:spcPts val="3219"/>
                </a:lnSpc>
              </a:pPr>
              <a:r>
                <a:rPr lang="en-US" sz="2299" spc="-45" dirty="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                    Mapping Service                                                     OpenStreetMap / Google Maps API</a:t>
              </a:r>
            </a:p>
            <a:p>
              <a:pPr algn="l">
                <a:lnSpc>
                  <a:spcPts val="3219"/>
                </a:lnSpc>
              </a:pPr>
              <a:r>
                <a:rPr lang="en-US" sz="2299" spc="-45" dirty="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                    Geocoding                                                               </a:t>
              </a:r>
              <a:r>
                <a:rPr lang="en-US" sz="2299" spc="-45" dirty="0" err="1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Geocoding</a:t>
              </a:r>
              <a:r>
                <a:rPr lang="en-US" sz="2299" spc="-45" dirty="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API for converting addresses to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.                                                                                                              coordinates</a:t>
              </a:r>
            </a:p>
            <a:p>
              <a:pPr algn="l">
                <a:lnSpc>
                  <a:spcPts val="3219"/>
                </a:lnSpc>
              </a:pPr>
              <a:r>
                <a:rPr lang="en-US" sz="2299" spc="-45" dirty="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                    Libraries                                                                    Pandas, NumPy, OR-Tools</a:t>
              </a:r>
            </a:p>
            <a:p>
              <a:pPr algn="l">
                <a:lnSpc>
                  <a:spcPts val="3219"/>
                </a:lnSpc>
              </a:pPr>
              <a:r>
                <a:rPr lang="en-US" sz="2299" spc="-45" dirty="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                    Browser                                                                    Google Chrome / Microsoft Edge</a:t>
              </a:r>
            </a:p>
            <a:p>
              <a:pPr algn="l">
                <a:lnSpc>
                  <a:spcPts val="3219"/>
                </a:lnSpc>
              </a:pPr>
              <a:r>
                <a:rPr lang="en-US" sz="2299" spc="-45" dirty="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                    Version Control                                                       Git / GitHub</a:t>
              </a:r>
            </a:p>
            <a:p>
              <a:pPr algn="ctr">
                <a:lnSpc>
                  <a:spcPts val="2519"/>
                </a:lnSpc>
              </a:pPr>
              <a:endParaRPr lang="en-US" sz="2299" spc="-45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C3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3988" y="161925"/>
            <a:ext cx="16230600" cy="1399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0715"/>
              </a:lnSpc>
            </a:pPr>
            <a:r>
              <a:rPr lang="en-US" sz="10303" spc="-412">
                <a:solidFill>
                  <a:srgbClr val="F2F1FF"/>
                </a:solidFill>
                <a:latin typeface="Open Sauce"/>
                <a:ea typeface="Open Sauce"/>
                <a:cs typeface="Open Sauce"/>
                <a:sym typeface="Open Sauce"/>
              </a:rPr>
              <a:t>Hardware Requirements</a:t>
            </a:r>
          </a:p>
        </p:txBody>
      </p:sp>
      <p:sp>
        <p:nvSpPr>
          <p:cNvPr id="3" name="AutoShape 3"/>
          <p:cNvSpPr/>
          <p:nvPr/>
        </p:nvSpPr>
        <p:spPr>
          <a:xfrm>
            <a:off x="2000606" y="1561917"/>
            <a:ext cx="14561269" cy="0"/>
          </a:xfrm>
          <a:prstGeom prst="line">
            <a:avLst/>
          </a:prstGeom>
          <a:ln w="9525" cap="flat">
            <a:solidFill>
              <a:srgbClr val="5C56A4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804693" y="2070197"/>
            <a:ext cx="16230600" cy="8110644"/>
            <a:chOff x="0" y="-28575"/>
            <a:chExt cx="4274726" cy="2136137"/>
          </a:xfrm>
        </p:grpSpPr>
        <p:sp>
          <p:nvSpPr>
            <p:cNvPr id="5" name="Freeform 5"/>
            <p:cNvSpPr/>
            <p:nvPr/>
          </p:nvSpPr>
          <p:spPr>
            <a:xfrm>
              <a:off x="149309" y="0"/>
              <a:ext cx="4074034" cy="1884657"/>
            </a:xfrm>
            <a:custGeom>
              <a:avLst/>
              <a:gdLst/>
              <a:ahLst/>
              <a:cxnLst/>
              <a:rect l="l" t="t" r="r" b="b"/>
              <a:pathLst>
                <a:path w="4274726" h="2107562">
                  <a:moveTo>
                    <a:pt x="7632" y="0"/>
                  </a:moveTo>
                  <a:lnTo>
                    <a:pt x="4267094" y="0"/>
                  </a:lnTo>
                  <a:cubicBezTo>
                    <a:pt x="4271309" y="0"/>
                    <a:pt x="4274726" y="3417"/>
                    <a:pt x="4274726" y="7632"/>
                  </a:cubicBezTo>
                  <a:lnTo>
                    <a:pt x="4274726" y="2099930"/>
                  </a:lnTo>
                  <a:cubicBezTo>
                    <a:pt x="4274726" y="2101954"/>
                    <a:pt x="4273922" y="2103895"/>
                    <a:pt x="4272490" y="2105326"/>
                  </a:cubicBezTo>
                  <a:cubicBezTo>
                    <a:pt x="4271059" y="2106758"/>
                    <a:pt x="4269118" y="2107562"/>
                    <a:pt x="4267094" y="2107562"/>
                  </a:cubicBezTo>
                  <a:lnTo>
                    <a:pt x="7632" y="2107562"/>
                  </a:lnTo>
                  <a:cubicBezTo>
                    <a:pt x="3417" y="2107562"/>
                    <a:pt x="0" y="2104145"/>
                    <a:pt x="0" y="2099930"/>
                  </a:cubicBezTo>
                  <a:lnTo>
                    <a:pt x="0" y="7632"/>
                  </a:lnTo>
                  <a:cubicBezTo>
                    <a:pt x="0" y="3417"/>
                    <a:pt x="3417" y="0"/>
                    <a:pt x="7632" y="0"/>
                  </a:cubicBezTo>
                  <a:close/>
                </a:path>
              </a:pathLst>
            </a:custGeom>
            <a:solidFill>
              <a:srgbClr val="231D60"/>
            </a:solidFill>
            <a:ln w="9525" cap="sq">
              <a:solidFill>
                <a:srgbClr val="5C56A4"/>
              </a:soli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4274726" cy="21361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3326436" y="2539222"/>
            <a:ext cx="4686323" cy="937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3499" spc="-139">
                <a:solidFill>
                  <a:srgbClr val="F2F1FF"/>
                </a:solidFill>
                <a:latin typeface="Open Sauce"/>
                <a:ea typeface="Open Sauce"/>
                <a:cs typeface="Open Sauce"/>
                <a:sym typeface="Open Sauce"/>
              </a:rPr>
              <a:t>Hardware</a:t>
            </a:r>
          </a:p>
          <a:p>
            <a:pPr algn="l">
              <a:lnSpc>
                <a:spcPts val="3639"/>
              </a:lnSpc>
            </a:pPr>
            <a:endParaRPr lang="en-US" sz="3499" spc="-139">
              <a:solidFill>
                <a:srgbClr val="F2F1FF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534400" y="2605806"/>
            <a:ext cx="4669322" cy="446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27"/>
              </a:lnSpc>
            </a:pPr>
            <a:r>
              <a:rPr lang="en-US" sz="3199" spc="-127" dirty="0">
                <a:solidFill>
                  <a:srgbClr val="F2F1FF"/>
                </a:solidFill>
                <a:latin typeface="Open Sauce"/>
                <a:ea typeface="Open Sauce"/>
                <a:cs typeface="Open Sauce"/>
                <a:sym typeface="Open Sauce"/>
              </a:rPr>
              <a:t>Minimum Requirement</a:t>
            </a:r>
          </a:p>
        </p:txBody>
      </p:sp>
      <p:sp>
        <p:nvSpPr>
          <p:cNvPr id="9" name="Freeform 9"/>
          <p:cNvSpPr/>
          <p:nvPr/>
        </p:nvSpPr>
        <p:spPr>
          <a:xfrm>
            <a:off x="173988" y="462378"/>
            <a:ext cx="1371273" cy="1542327"/>
          </a:xfrm>
          <a:custGeom>
            <a:avLst/>
            <a:gdLst/>
            <a:ahLst/>
            <a:cxnLst/>
            <a:rect l="l" t="t" r="r" b="b"/>
            <a:pathLst>
              <a:path w="1371273" h="1542327">
                <a:moveTo>
                  <a:pt x="0" y="0"/>
                </a:moveTo>
                <a:lnTo>
                  <a:pt x="1371272" y="0"/>
                </a:lnTo>
                <a:lnTo>
                  <a:pt x="1371272" y="1542327"/>
                </a:lnTo>
                <a:lnTo>
                  <a:pt x="0" y="15423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2196342" y="3718748"/>
            <a:ext cx="3473255" cy="4855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48957" lvl="1" indent="-374478" algn="l">
              <a:lnSpc>
                <a:spcPts val="4856"/>
              </a:lnSpc>
              <a:buFont typeface="Arial"/>
              <a:buChar char="•"/>
            </a:pPr>
            <a:r>
              <a:rPr lang="en-US" sz="3468" spc="-69">
                <a:solidFill>
                  <a:srgbClr val="F2F1FF"/>
                </a:solidFill>
                <a:latin typeface="Open Sauce"/>
                <a:ea typeface="Open Sauce"/>
                <a:cs typeface="Open Sauce"/>
                <a:sym typeface="Open Sauce"/>
              </a:rPr>
              <a:t>Processor</a:t>
            </a:r>
          </a:p>
          <a:p>
            <a:pPr marL="748957" lvl="1" indent="-374478" algn="l">
              <a:lnSpc>
                <a:spcPts val="4856"/>
              </a:lnSpc>
              <a:buFont typeface="Arial"/>
              <a:buChar char="•"/>
            </a:pPr>
            <a:r>
              <a:rPr lang="en-US" sz="3468" spc="-69">
                <a:solidFill>
                  <a:srgbClr val="F2F1FF"/>
                </a:solidFill>
                <a:latin typeface="Open Sauce"/>
                <a:ea typeface="Open Sauce"/>
                <a:cs typeface="Open Sauce"/>
                <a:sym typeface="Open Sauce"/>
              </a:rPr>
              <a:t>RAM</a:t>
            </a:r>
          </a:p>
          <a:p>
            <a:pPr marL="748957" lvl="1" indent="-374478" algn="l">
              <a:lnSpc>
                <a:spcPts val="4856"/>
              </a:lnSpc>
              <a:buFont typeface="Arial"/>
              <a:buChar char="•"/>
            </a:pPr>
            <a:r>
              <a:rPr lang="en-US" sz="3468" spc="-69">
                <a:solidFill>
                  <a:srgbClr val="F2F1FF"/>
                </a:solidFill>
                <a:latin typeface="Open Sauce"/>
                <a:ea typeface="Open Sauce"/>
                <a:cs typeface="Open Sauce"/>
                <a:sym typeface="Open Sauce"/>
              </a:rPr>
              <a:t>Storage</a:t>
            </a:r>
          </a:p>
          <a:p>
            <a:pPr marL="748957" lvl="1" indent="-374478" algn="l">
              <a:lnSpc>
                <a:spcPts val="4856"/>
              </a:lnSpc>
              <a:buFont typeface="Arial"/>
              <a:buChar char="•"/>
            </a:pPr>
            <a:r>
              <a:rPr lang="en-US" sz="3468" spc="-69">
                <a:solidFill>
                  <a:srgbClr val="F2F1FF"/>
                </a:solidFill>
                <a:latin typeface="Open Sauce"/>
                <a:ea typeface="Open Sauce"/>
                <a:cs typeface="Open Sauce"/>
                <a:sym typeface="Open Sauce"/>
              </a:rPr>
              <a:t>Display</a:t>
            </a:r>
          </a:p>
          <a:p>
            <a:pPr marL="748957" lvl="1" indent="-374478" algn="l">
              <a:lnSpc>
                <a:spcPts val="4856"/>
              </a:lnSpc>
              <a:buFont typeface="Arial"/>
              <a:buChar char="•"/>
            </a:pPr>
            <a:r>
              <a:rPr lang="en-US" sz="3468" spc="-69">
                <a:solidFill>
                  <a:srgbClr val="F2F1FF"/>
                </a:solidFill>
                <a:latin typeface="Open Sauce"/>
                <a:ea typeface="Open Sauce"/>
                <a:cs typeface="Open Sauce"/>
                <a:sym typeface="Open Sauce"/>
              </a:rPr>
              <a:t>Internet</a:t>
            </a:r>
          </a:p>
          <a:p>
            <a:pPr marL="748957" lvl="1" indent="-374478" algn="l">
              <a:lnSpc>
                <a:spcPts val="4856"/>
              </a:lnSpc>
              <a:buFont typeface="Arial"/>
              <a:buChar char="•"/>
            </a:pPr>
            <a:r>
              <a:rPr lang="en-US" sz="3468" spc="-69">
                <a:solidFill>
                  <a:srgbClr val="F2F1FF"/>
                </a:solidFill>
                <a:latin typeface="Open Sauce"/>
                <a:ea typeface="Open Sauce"/>
                <a:cs typeface="Open Sauce"/>
                <a:sym typeface="Open Sauce"/>
              </a:rPr>
              <a:t>Keyboard</a:t>
            </a:r>
          </a:p>
          <a:p>
            <a:pPr marL="748957" lvl="1" indent="-374478" algn="l">
              <a:lnSpc>
                <a:spcPts val="4856"/>
              </a:lnSpc>
              <a:buFont typeface="Arial"/>
              <a:buChar char="•"/>
            </a:pPr>
            <a:r>
              <a:rPr lang="en-US" sz="3468" spc="-69">
                <a:solidFill>
                  <a:srgbClr val="F2F1FF"/>
                </a:solidFill>
                <a:latin typeface="Open Sauce"/>
                <a:ea typeface="Open Sauce"/>
                <a:cs typeface="Open Sauce"/>
                <a:sym typeface="Open Sauce"/>
              </a:rPr>
              <a:t>Mouse</a:t>
            </a:r>
          </a:p>
          <a:p>
            <a:pPr marL="748957" lvl="1" indent="-374478" algn="l">
              <a:lnSpc>
                <a:spcPts val="4856"/>
              </a:lnSpc>
              <a:buFont typeface="Arial"/>
              <a:buChar char="•"/>
            </a:pPr>
            <a:r>
              <a:rPr lang="en-US" sz="3468" spc="-69">
                <a:solidFill>
                  <a:srgbClr val="F2F1FF"/>
                </a:solidFill>
                <a:latin typeface="Open Sauce"/>
                <a:ea typeface="Open Sauce"/>
                <a:cs typeface="Open Sauce"/>
                <a:sym typeface="Open Sauce"/>
              </a:rPr>
              <a:t>Network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261645" y="3718292"/>
            <a:ext cx="8997655" cy="4855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31"/>
              </a:lnSpc>
            </a:pPr>
            <a:r>
              <a:rPr lang="en-US" sz="3451" spc="-69">
                <a:solidFill>
                  <a:srgbClr val="F2F1FF"/>
                </a:solidFill>
                <a:latin typeface="Open Sauce"/>
                <a:ea typeface="Open Sauce"/>
                <a:cs typeface="Open Sauce"/>
                <a:sym typeface="Open Sauce"/>
              </a:rPr>
              <a:t>Intel Core i3 / AMD Ryzen 3 or above</a:t>
            </a:r>
          </a:p>
          <a:p>
            <a:pPr algn="l">
              <a:lnSpc>
                <a:spcPts val="4831"/>
              </a:lnSpc>
            </a:pPr>
            <a:r>
              <a:rPr lang="en-US" sz="3451" spc="-69">
                <a:solidFill>
                  <a:srgbClr val="F2F1FF"/>
                </a:solidFill>
                <a:latin typeface="Open Sauce"/>
                <a:ea typeface="Open Sauce"/>
                <a:cs typeface="Open Sauce"/>
                <a:sym typeface="Open Sauce"/>
              </a:rPr>
              <a:t>4 GB minimum, 8 GB recommended</a:t>
            </a:r>
          </a:p>
          <a:p>
            <a:pPr algn="l">
              <a:lnSpc>
                <a:spcPts val="4831"/>
              </a:lnSpc>
            </a:pPr>
            <a:r>
              <a:rPr lang="en-US" sz="3451" spc="-69">
                <a:solidFill>
                  <a:srgbClr val="F2F1FF"/>
                </a:solidFill>
                <a:latin typeface="Open Sauce"/>
                <a:ea typeface="Open Sauce"/>
                <a:cs typeface="Open Sauce"/>
                <a:sym typeface="Open Sauce"/>
              </a:rPr>
              <a:t>10 GB free space</a:t>
            </a:r>
          </a:p>
          <a:p>
            <a:pPr algn="l">
              <a:lnSpc>
                <a:spcPts val="4831"/>
              </a:lnSpc>
            </a:pPr>
            <a:r>
              <a:rPr lang="en-US" sz="3451" spc="-69">
                <a:solidFill>
                  <a:srgbClr val="F2F1FF"/>
                </a:solidFill>
                <a:latin typeface="Open Sauce"/>
                <a:ea typeface="Open Sauce"/>
                <a:cs typeface="Open Sauce"/>
                <a:sym typeface="Open Sauce"/>
              </a:rPr>
              <a:t>1366 × 768 resolution or higher</a:t>
            </a:r>
          </a:p>
          <a:p>
            <a:pPr algn="l">
              <a:lnSpc>
                <a:spcPts val="4831"/>
              </a:lnSpc>
            </a:pPr>
            <a:r>
              <a:rPr lang="en-US" sz="3451" spc="-69">
                <a:solidFill>
                  <a:srgbClr val="F2F1FF"/>
                </a:solidFill>
                <a:latin typeface="Open Sauce"/>
                <a:ea typeface="Open Sauce"/>
                <a:cs typeface="Open Sauce"/>
                <a:sym typeface="Open Sauce"/>
              </a:rPr>
              <a:t>Stable internet connection</a:t>
            </a:r>
          </a:p>
          <a:p>
            <a:pPr algn="l">
              <a:lnSpc>
                <a:spcPts val="4831"/>
              </a:lnSpc>
            </a:pPr>
            <a:r>
              <a:rPr lang="en-US" sz="3451" spc="-69">
                <a:solidFill>
                  <a:srgbClr val="F2F1FF"/>
                </a:solidFill>
                <a:latin typeface="Open Sauce"/>
                <a:ea typeface="Open Sauce"/>
                <a:cs typeface="Open Sauce"/>
                <a:sym typeface="Open Sauce"/>
              </a:rPr>
              <a:t>Standard keyboard</a:t>
            </a:r>
          </a:p>
          <a:p>
            <a:pPr algn="l">
              <a:lnSpc>
                <a:spcPts val="4831"/>
              </a:lnSpc>
            </a:pPr>
            <a:r>
              <a:rPr lang="en-US" sz="3451" spc="-69">
                <a:solidFill>
                  <a:srgbClr val="F2F1FF"/>
                </a:solidFill>
                <a:latin typeface="Open Sauce"/>
                <a:ea typeface="Open Sauce"/>
                <a:cs typeface="Open Sauce"/>
                <a:sym typeface="Open Sauce"/>
              </a:rPr>
              <a:t>Standard mouse</a:t>
            </a:r>
          </a:p>
          <a:p>
            <a:pPr algn="l">
              <a:lnSpc>
                <a:spcPts val="4831"/>
              </a:lnSpc>
            </a:pPr>
            <a:r>
              <a:rPr lang="en-US" sz="3451" spc="-69">
                <a:solidFill>
                  <a:srgbClr val="F2F1FF"/>
                </a:solidFill>
                <a:latin typeface="Open Sauce"/>
                <a:ea typeface="Open Sauce"/>
                <a:cs typeface="Open Sauce"/>
                <a:sym typeface="Open Sauce"/>
              </a:rPr>
              <a:t>Wi-Fi / Ethernet</a:t>
            </a:r>
          </a:p>
        </p:txBody>
      </p:sp>
      <p:sp>
        <p:nvSpPr>
          <p:cNvPr id="12" name="AutoShape 12"/>
          <p:cNvSpPr/>
          <p:nvPr/>
        </p:nvSpPr>
        <p:spPr>
          <a:xfrm>
            <a:off x="2196342" y="3277156"/>
            <a:ext cx="4204458" cy="4762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AutoShape 13"/>
          <p:cNvSpPr/>
          <p:nvPr/>
        </p:nvSpPr>
        <p:spPr>
          <a:xfrm>
            <a:off x="8012759" y="3265192"/>
            <a:ext cx="5308597" cy="16726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C3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671425" y="350881"/>
            <a:ext cx="8290982" cy="1161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23"/>
              </a:lnSpc>
            </a:pPr>
            <a:r>
              <a:rPr lang="en-US" sz="8388" spc="-335">
                <a:solidFill>
                  <a:srgbClr val="F2F1FF"/>
                </a:solidFill>
                <a:latin typeface="Open Sauce"/>
                <a:ea typeface="Open Sauce"/>
                <a:cs typeface="Open Sauce"/>
                <a:sym typeface="Open Sauce"/>
              </a:rPr>
              <a:t>Literature Survey</a:t>
            </a:r>
          </a:p>
        </p:txBody>
      </p:sp>
      <p:sp>
        <p:nvSpPr>
          <p:cNvPr id="3" name="AutoShape 3"/>
          <p:cNvSpPr/>
          <p:nvPr/>
        </p:nvSpPr>
        <p:spPr>
          <a:xfrm>
            <a:off x="2588062" y="1581936"/>
            <a:ext cx="9308776" cy="0"/>
          </a:xfrm>
          <a:prstGeom prst="line">
            <a:avLst/>
          </a:prstGeom>
          <a:ln w="9525" cap="flat">
            <a:solidFill>
              <a:srgbClr val="F2F1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14739841" y="0"/>
            <a:ext cx="3548159" cy="3140902"/>
          </a:xfrm>
          <a:custGeom>
            <a:avLst/>
            <a:gdLst/>
            <a:ahLst/>
            <a:cxnLst/>
            <a:rect l="l" t="t" r="r" b="b"/>
            <a:pathLst>
              <a:path w="3548159" h="3140902">
                <a:moveTo>
                  <a:pt x="0" y="0"/>
                </a:moveTo>
                <a:lnTo>
                  <a:pt x="3548159" y="0"/>
                </a:lnTo>
                <a:lnTo>
                  <a:pt x="3548159" y="3140902"/>
                </a:lnTo>
                <a:lnTo>
                  <a:pt x="0" y="31409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267942" y="2080192"/>
            <a:ext cx="15991358" cy="7164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20707" lvl="1" indent="-360354" algn="l">
              <a:lnSpc>
                <a:spcPts val="4673"/>
              </a:lnSpc>
              <a:buFont typeface="Arial"/>
              <a:buChar char="•"/>
            </a:pPr>
            <a:r>
              <a:rPr lang="en-US" sz="2800" spc="-66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Vehicle Routing Problem (VRP): Finds the best routes for vehicles to</a:t>
            </a:r>
          </a:p>
          <a:p>
            <a:pPr algn="l">
              <a:lnSpc>
                <a:spcPts val="4673"/>
              </a:lnSpc>
            </a:pPr>
            <a:r>
              <a:rPr lang="en-US" sz="2800" spc="-66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      visit multiple delivery locations.</a:t>
            </a:r>
          </a:p>
          <a:p>
            <a:pPr marL="720707" lvl="1" indent="-360354" algn="l">
              <a:lnSpc>
                <a:spcPts val="4673"/>
              </a:lnSpc>
              <a:buFont typeface="Arial"/>
              <a:buChar char="•"/>
            </a:pPr>
            <a:r>
              <a:rPr lang="en-US" sz="2800" spc="-66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Vehicle Capacity: Routes must be planned without exceeding the carrying </a:t>
            </a:r>
          </a:p>
          <a:p>
            <a:pPr algn="l">
              <a:lnSpc>
                <a:spcPts val="4673"/>
              </a:lnSpc>
            </a:pPr>
            <a:r>
              <a:rPr lang="en-US" sz="2800" spc="-66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      capacity of each vehicle.</a:t>
            </a:r>
          </a:p>
          <a:p>
            <a:pPr marL="720707" lvl="1" indent="-360354" algn="l">
              <a:lnSpc>
                <a:spcPts val="4673"/>
              </a:lnSpc>
              <a:buFont typeface="Arial"/>
              <a:buChar char="•"/>
            </a:pPr>
            <a:r>
              <a:rPr lang="en-US" sz="2800" spc="-66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Time Windows: Deliveries must be completed within the customer's specified time.</a:t>
            </a:r>
          </a:p>
          <a:p>
            <a:pPr marL="720707" lvl="1" indent="-360354" algn="l">
              <a:lnSpc>
                <a:spcPts val="4673"/>
              </a:lnSpc>
              <a:buFont typeface="Arial"/>
              <a:buChar char="•"/>
            </a:pPr>
            <a:r>
              <a:rPr lang="en-US" sz="2800" spc="-66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Address Data Cleaning: Removes incorrect, duplicate, or incomplete addresses before route planning.</a:t>
            </a:r>
          </a:p>
          <a:p>
            <a:pPr marL="720707" lvl="1" indent="-360354" algn="l">
              <a:lnSpc>
                <a:spcPts val="4673"/>
              </a:lnSpc>
              <a:buFont typeface="Arial"/>
              <a:buChar char="•"/>
            </a:pPr>
            <a:r>
              <a:rPr lang="en-US" sz="2800" spc="-66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Route Optimization: Heuristic methods are used to find good routes quickly for large numbers of delivery stops.</a:t>
            </a:r>
          </a:p>
          <a:p>
            <a:pPr marL="720707" lvl="1" indent="-360354" algn="l">
              <a:lnSpc>
                <a:spcPts val="4673"/>
              </a:lnSpc>
              <a:buFont typeface="Arial"/>
              <a:buChar char="•"/>
            </a:pPr>
            <a:r>
              <a:rPr lang="en-US" sz="2800" spc="-66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Research Gap: Existing methods often focus on only one part of the problem. Our system combines address cleaning, vehicle assignment, capacity, time constraints, route optimization, and cost reporting in one system.</a:t>
            </a:r>
          </a:p>
        </p:txBody>
      </p:sp>
      <p:sp>
        <p:nvSpPr>
          <p:cNvPr id="6" name="Freeform 6"/>
          <p:cNvSpPr/>
          <p:nvPr/>
        </p:nvSpPr>
        <p:spPr>
          <a:xfrm>
            <a:off x="183020" y="166137"/>
            <a:ext cx="1908853" cy="1725126"/>
          </a:xfrm>
          <a:custGeom>
            <a:avLst/>
            <a:gdLst/>
            <a:ahLst/>
            <a:cxnLst/>
            <a:rect l="l" t="t" r="r" b="b"/>
            <a:pathLst>
              <a:path w="1908853" h="1725126">
                <a:moveTo>
                  <a:pt x="0" y="0"/>
                </a:moveTo>
                <a:lnTo>
                  <a:pt x="1908854" y="0"/>
                </a:lnTo>
                <a:lnTo>
                  <a:pt x="1908854" y="1725126"/>
                </a:lnTo>
                <a:lnTo>
                  <a:pt x="0" y="17251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C3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4973276" y="1463116"/>
            <a:ext cx="8729018" cy="4763"/>
          </a:xfrm>
          <a:prstGeom prst="line">
            <a:avLst/>
          </a:prstGeom>
          <a:ln w="9525" cap="flat">
            <a:solidFill>
              <a:srgbClr val="5C56A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5543061" y="314517"/>
            <a:ext cx="7201878" cy="1153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69"/>
              </a:lnSpc>
            </a:pPr>
            <a:r>
              <a:rPr lang="en-US" sz="8432" spc="-337">
                <a:solidFill>
                  <a:srgbClr val="F2F1FF"/>
                </a:solidFill>
                <a:latin typeface="Open Sauce"/>
                <a:ea typeface="Open Sauce"/>
                <a:cs typeface="Open Sauce"/>
                <a:sym typeface="Open Sauce"/>
              </a:rPr>
              <a:t>Methodology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3650860" y="1891741"/>
            <a:ext cx="3954797" cy="3444116"/>
            <a:chOff x="0" y="0"/>
            <a:chExt cx="1041593" cy="90709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41593" cy="907092"/>
            </a:xfrm>
            <a:custGeom>
              <a:avLst/>
              <a:gdLst/>
              <a:ahLst/>
              <a:cxnLst/>
              <a:rect l="l" t="t" r="r" b="b"/>
              <a:pathLst>
                <a:path w="1041593" h="907092">
                  <a:moveTo>
                    <a:pt x="31322" y="0"/>
                  </a:moveTo>
                  <a:lnTo>
                    <a:pt x="1010271" y="0"/>
                  </a:lnTo>
                  <a:cubicBezTo>
                    <a:pt x="1018578" y="0"/>
                    <a:pt x="1026545" y="3300"/>
                    <a:pt x="1032419" y="9174"/>
                  </a:cubicBezTo>
                  <a:cubicBezTo>
                    <a:pt x="1038293" y="15048"/>
                    <a:pt x="1041593" y="23015"/>
                    <a:pt x="1041593" y="31322"/>
                  </a:cubicBezTo>
                  <a:lnTo>
                    <a:pt x="1041593" y="875771"/>
                  </a:lnTo>
                  <a:cubicBezTo>
                    <a:pt x="1041593" y="893069"/>
                    <a:pt x="1027569" y="907092"/>
                    <a:pt x="1010271" y="907092"/>
                  </a:cubicBezTo>
                  <a:lnTo>
                    <a:pt x="31322" y="907092"/>
                  </a:lnTo>
                  <a:cubicBezTo>
                    <a:pt x="23015" y="907092"/>
                    <a:pt x="15048" y="903792"/>
                    <a:pt x="9174" y="897918"/>
                  </a:cubicBezTo>
                  <a:cubicBezTo>
                    <a:pt x="3300" y="892044"/>
                    <a:pt x="0" y="884078"/>
                    <a:pt x="0" y="875771"/>
                  </a:cubicBezTo>
                  <a:lnTo>
                    <a:pt x="0" y="31322"/>
                  </a:lnTo>
                  <a:cubicBezTo>
                    <a:pt x="0" y="23015"/>
                    <a:pt x="3300" y="15048"/>
                    <a:pt x="9174" y="9174"/>
                  </a:cubicBezTo>
                  <a:cubicBezTo>
                    <a:pt x="15048" y="3300"/>
                    <a:pt x="23015" y="0"/>
                    <a:pt x="31322" y="0"/>
                  </a:cubicBezTo>
                  <a:close/>
                </a:path>
              </a:pathLst>
            </a:custGeom>
            <a:solidFill>
              <a:srgbClr val="231D60"/>
            </a:solidFill>
            <a:ln w="9525" cap="sq">
              <a:solidFill>
                <a:srgbClr val="5C56A4"/>
              </a:soli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1041593" cy="9356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3754681" y="2171134"/>
            <a:ext cx="3850022" cy="742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2"/>
              </a:lnSpc>
            </a:pPr>
            <a:r>
              <a:rPr lang="en-US" sz="2800" spc="-112">
                <a:solidFill>
                  <a:srgbClr val="F2F1FF"/>
                </a:solidFill>
                <a:latin typeface="Open Sauce"/>
                <a:ea typeface="Open Sauce"/>
                <a:cs typeface="Open Sauce"/>
                <a:sym typeface="Open Sauce"/>
              </a:rPr>
              <a:t>Assign Stops to Vehicles</a:t>
            </a:r>
          </a:p>
        </p:txBody>
      </p:sp>
      <p:sp>
        <p:nvSpPr>
          <p:cNvPr id="8" name="AutoShape 8"/>
          <p:cNvSpPr/>
          <p:nvPr/>
        </p:nvSpPr>
        <p:spPr>
          <a:xfrm>
            <a:off x="14048177" y="3024252"/>
            <a:ext cx="3159209" cy="0"/>
          </a:xfrm>
          <a:prstGeom prst="line">
            <a:avLst/>
          </a:prstGeom>
          <a:ln w="9525" cap="flat">
            <a:solidFill>
              <a:srgbClr val="526E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9" name="Group 9"/>
          <p:cNvGrpSpPr/>
          <p:nvPr/>
        </p:nvGrpSpPr>
        <p:grpSpPr>
          <a:xfrm>
            <a:off x="13702294" y="5916882"/>
            <a:ext cx="3954797" cy="3444116"/>
            <a:chOff x="0" y="0"/>
            <a:chExt cx="1041593" cy="90709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41593" cy="907092"/>
            </a:xfrm>
            <a:custGeom>
              <a:avLst/>
              <a:gdLst/>
              <a:ahLst/>
              <a:cxnLst/>
              <a:rect l="l" t="t" r="r" b="b"/>
              <a:pathLst>
                <a:path w="1041593" h="907092">
                  <a:moveTo>
                    <a:pt x="31322" y="0"/>
                  </a:moveTo>
                  <a:lnTo>
                    <a:pt x="1010271" y="0"/>
                  </a:lnTo>
                  <a:cubicBezTo>
                    <a:pt x="1018578" y="0"/>
                    <a:pt x="1026545" y="3300"/>
                    <a:pt x="1032419" y="9174"/>
                  </a:cubicBezTo>
                  <a:cubicBezTo>
                    <a:pt x="1038293" y="15048"/>
                    <a:pt x="1041593" y="23015"/>
                    <a:pt x="1041593" y="31322"/>
                  </a:cubicBezTo>
                  <a:lnTo>
                    <a:pt x="1041593" y="875771"/>
                  </a:lnTo>
                  <a:cubicBezTo>
                    <a:pt x="1041593" y="893069"/>
                    <a:pt x="1027569" y="907092"/>
                    <a:pt x="1010271" y="907092"/>
                  </a:cubicBezTo>
                  <a:lnTo>
                    <a:pt x="31322" y="907092"/>
                  </a:lnTo>
                  <a:cubicBezTo>
                    <a:pt x="23015" y="907092"/>
                    <a:pt x="15048" y="903792"/>
                    <a:pt x="9174" y="897918"/>
                  </a:cubicBezTo>
                  <a:cubicBezTo>
                    <a:pt x="3300" y="892044"/>
                    <a:pt x="0" y="884078"/>
                    <a:pt x="0" y="875771"/>
                  </a:cubicBezTo>
                  <a:lnTo>
                    <a:pt x="0" y="31322"/>
                  </a:lnTo>
                  <a:cubicBezTo>
                    <a:pt x="0" y="23015"/>
                    <a:pt x="3300" y="15048"/>
                    <a:pt x="9174" y="9174"/>
                  </a:cubicBezTo>
                  <a:cubicBezTo>
                    <a:pt x="15048" y="3300"/>
                    <a:pt x="23015" y="0"/>
                    <a:pt x="31322" y="0"/>
                  </a:cubicBezTo>
                  <a:close/>
                </a:path>
              </a:pathLst>
            </a:custGeom>
            <a:solidFill>
              <a:srgbClr val="231D60"/>
            </a:solidFill>
            <a:ln w="9525" cap="sq">
              <a:solidFill>
                <a:srgbClr val="5C56A4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1041593" cy="9356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3650860" y="6318303"/>
            <a:ext cx="3953843" cy="380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2"/>
              </a:lnSpc>
            </a:pPr>
            <a:r>
              <a:rPr lang="en-US" sz="2800" spc="-112">
                <a:solidFill>
                  <a:srgbClr val="F2F1FF"/>
                </a:solidFill>
                <a:latin typeface="Open Sauce"/>
                <a:ea typeface="Open Sauce"/>
                <a:cs typeface="Open Sauce"/>
                <a:sym typeface="Open Sauce"/>
              </a:rPr>
              <a:t> Display Final Routes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100087" y="7206823"/>
            <a:ext cx="3159216" cy="1249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1799" spc="-35">
                <a:solidFill>
                  <a:srgbClr val="F2F1FF"/>
                </a:solidFill>
                <a:latin typeface="Open Sauce"/>
                <a:ea typeface="Open Sauce"/>
                <a:cs typeface="Open Sauce"/>
                <a:sym typeface="Open Sauce"/>
              </a:rPr>
              <a:t>Show the optimized route for each vehicle on a map along with the cost and quality report.</a:t>
            </a:r>
          </a:p>
        </p:txBody>
      </p:sp>
      <p:sp>
        <p:nvSpPr>
          <p:cNvPr id="14" name="AutoShape 14"/>
          <p:cNvSpPr/>
          <p:nvPr/>
        </p:nvSpPr>
        <p:spPr>
          <a:xfrm>
            <a:off x="14048177" y="6956224"/>
            <a:ext cx="3159209" cy="0"/>
          </a:xfrm>
          <a:prstGeom prst="line">
            <a:avLst/>
          </a:prstGeom>
          <a:ln w="9525" cap="flat">
            <a:solidFill>
              <a:srgbClr val="526E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5" name="Group 15"/>
          <p:cNvGrpSpPr/>
          <p:nvPr/>
        </p:nvGrpSpPr>
        <p:grpSpPr>
          <a:xfrm>
            <a:off x="770829" y="5916882"/>
            <a:ext cx="3954797" cy="3444116"/>
            <a:chOff x="0" y="0"/>
            <a:chExt cx="1041593" cy="90709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41593" cy="907092"/>
            </a:xfrm>
            <a:custGeom>
              <a:avLst/>
              <a:gdLst/>
              <a:ahLst/>
              <a:cxnLst/>
              <a:rect l="l" t="t" r="r" b="b"/>
              <a:pathLst>
                <a:path w="1041593" h="907092">
                  <a:moveTo>
                    <a:pt x="31322" y="0"/>
                  </a:moveTo>
                  <a:lnTo>
                    <a:pt x="1010271" y="0"/>
                  </a:lnTo>
                  <a:cubicBezTo>
                    <a:pt x="1018578" y="0"/>
                    <a:pt x="1026545" y="3300"/>
                    <a:pt x="1032419" y="9174"/>
                  </a:cubicBezTo>
                  <a:cubicBezTo>
                    <a:pt x="1038293" y="15048"/>
                    <a:pt x="1041593" y="23015"/>
                    <a:pt x="1041593" y="31322"/>
                  </a:cubicBezTo>
                  <a:lnTo>
                    <a:pt x="1041593" y="875771"/>
                  </a:lnTo>
                  <a:cubicBezTo>
                    <a:pt x="1041593" y="893069"/>
                    <a:pt x="1027569" y="907092"/>
                    <a:pt x="1010271" y="907092"/>
                  </a:cubicBezTo>
                  <a:lnTo>
                    <a:pt x="31322" y="907092"/>
                  </a:lnTo>
                  <a:cubicBezTo>
                    <a:pt x="23015" y="907092"/>
                    <a:pt x="15048" y="903792"/>
                    <a:pt x="9174" y="897918"/>
                  </a:cubicBezTo>
                  <a:cubicBezTo>
                    <a:pt x="3300" y="892044"/>
                    <a:pt x="0" y="884078"/>
                    <a:pt x="0" y="875771"/>
                  </a:cubicBezTo>
                  <a:lnTo>
                    <a:pt x="0" y="31322"/>
                  </a:lnTo>
                  <a:cubicBezTo>
                    <a:pt x="0" y="23015"/>
                    <a:pt x="3300" y="15048"/>
                    <a:pt x="9174" y="9174"/>
                  </a:cubicBezTo>
                  <a:cubicBezTo>
                    <a:pt x="15048" y="3300"/>
                    <a:pt x="23015" y="0"/>
                    <a:pt x="31322" y="0"/>
                  </a:cubicBezTo>
                  <a:close/>
                </a:path>
              </a:pathLst>
            </a:custGeom>
            <a:solidFill>
              <a:srgbClr val="231D60"/>
            </a:solidFill>
            <a:ln w="9525" cap="sq">
              <a:solidFill>
                <a:srgbClr val="5C56A4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1041593" cy="9356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703896" y="6318303"/>
            <a:ext cx="3954797" cy="380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2"/>
              </a:lnSpc>
            </a:pPr>
            <a:r>
              <a:rPr lang="en-US" sz="2800" spc="-112">
                <a:solidFill>
                  <a:srgbClr val="F2F1FF"/>
                </a:solidFill>
                <a:latin typeface="Open Sauce"/>
                <a:ea typeface="Open Sauce"/>
                <a:cs typeface="Open Sauce"/>
                <a:sym typeface="Open Sauce"/>
              </a:rPr>
              <a:t>Optimize Routes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97890" y="7165774"/>
            <a:ext cx="3048338" cy="2118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9"/>
              </a:lnSpc>
            </a:pPr>
            <a:r>
              <a:rPr lang="en-US" sz="1727" spc="-34">
                <a:solidFill>
                  <a:srgbClr val="F2F1FF"/>
                </a:solidFill>
                <a:latin typeface="Open Sauce"/>
                <a:ea typeface="Open Sauce"/>
                <a:cs typeface="Open Sauce"/>
                <a:sym typeface="Open Sauce"/>
              </a:rPr>
              <a:t>Find an efficient order for visiting the assigned delivery stops using route optimization/heuristic algorithms.</a:t>
            </a:r>
          </a:p>
          <a:p>
            <a:pPr algn="l">
              <a:lnSpc>
                <a:spcPts val="2419"/>
              </a:lnSpc>
            </a:pPr>
            <a:endParaRPr lang="en-US" sz="1727" spc="-34">
              <a:solidFill>
                <a:srgbClr val="F2F1FF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l">
              <a:lnSpc>
                <a:spcPts val="2419"/>
              </a:lnSpc>
              <a:spcBef>
                <a:spcPct val="0"/>
              </a:spcBef>
            </a:pPr>
            <a:endParaRPr lang="en-US" sz="1727" spc="-34">
              <a:solidFill>
                <a:srgbClr val="F2F1FF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1273402" y="6960986"/>
            <a:ext cx="3159209" cy="0"/>
          </a:xfrm>
          <a:prstGeom prst="line">
            <a:avLst/>
          </a:prstGeom>
          <a:ln w="9525" cap="flat">
            <a:solidFill>
              <a:srgbClr val="526E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1" name="Group 21"/>
          <p:cNvGrpSpPr/>
          <p:nvPr/>
        </p:nvGrpSpPr>
        <p:grpSpPr>
          <a:xfrm>
            <a:off x="770829" y="1891741"/>
            <a:ext cx="3954797" cy="3444116"/>
            <a:chOff x="0" y="0"/>
            <a:chExt cx="1041593" cy="90709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41593" cy="907092"/>
            </a:xfrm>
            <a:custGeom>
              <a:avLst/>
              <a:gdLst/>
              <a:ahLst/>
              <a:cxnLst/>
              <a:rect l="l" t="t" r="r" b="b"/>
              <a:pathLst>
                <a:path w="1041593" h="907092">
                  <a:moveTo>
                    <a:pt x="31322" y="0"/>
                  </a:moveTo>
                  <a:lnTo>
                    <a:pt x="1010271" y="0"/>
                  </a:lnTo>
                  <a:cubicBezTo>
                    <a:pt x="1018578" y="0"/>
                    <a:pt x="1026545" y="3300"/>
                    <a:pt x="1032419" y="9174"/>
                  </a:cubicBezTo>
                  <a:cubicBezTo>
                    <a:pt x="1038293" y="15048"/>
                    <a:pt x="1041593" y="23015"/>
                    <a:pt x="1041593" y="31322"/>
                  </a:cubicBezTo>
                  <a:lnTo>
                    <a:pt x="1041593" y="875771"/>
                  </a:lnTo>
                  <a:cubicBezTo>
                    <a:pt x="1041593" y="893069"/>
                    <a:pt x="1027569" y="907092"/>
                    <a:pt x="1010271" y="907092"/>
                  </a:cubicBezTo>
                  <a:lnTo>
                    <a:pt x="31322" y="907092"/>
                  </a:lnTo>
                  <a:cubicBezTo>
                    <a:pt x="23015" y="907092"/>
                    <a:pt x="15048" y="903792"/>
                    <a:pt x="9174" y="897918"/>
                  </a:cubicBezTo>
                  <a:cubicBezTo>
                    <a:pt x="3300" y="892044"/>
                    <a:pt x="0" y="884078"/>
                    <a:pt x="0" y="875771"/>
                  </a:cubicBezTo>
                  <a:lnTo>
                    <a:pt x="0" y="31322"/>
                  </a:lnTo>
                  <a:cubicBezTo>
                    <a:pt x="0" y="23015"/>
                    <a:pt x="3300" y="15048"/>
                    <a:pt x="9174" y="9174"/>
                  </a:cubicBezTo>
                  <a:cubicBezTo>
                    <a:pt x="15048" y="3300"/>
                    <a:pt x="23015" y="0"/>
                    <a:pt x="31322" y="0"/>
                  </a:cubicBezTo>
                  <a:close/>
                </a:path>
              </a:pathLst>
            </a:custGeom>
            <a:solidFill>
              <a:srgbClr val="231D60"/>
            </a:solidFill>
            <a:ln w="9525" cap="sq">
              <a:solidFill>
                <a:srgbClr val="5C56A4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-28575"/>
              <a:ext cx="1041593" cy="9356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063844" y="2301382"/>
            <a:ext cx="3368766" cy="3481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4"/>
              </a:lnSpc>
            </a:pPr>
            <a:r>
              <a:rPr lang="en-US" sz="2600" spc="-104">
                <a:solidFill>
                  <a:srgbClr val="F2F1FF"/>
                </a:solidFill>
                <a:latin typeface="Open Sauce"/>
                <a:ea typeface="Open Sauce"/>
                <a:cs typeface="Open Sauce"/>
                <a:sym typeface="Open Sauce"/>
              </a:rPr>
              <a:t>Collect Delivery Data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63844" y="3175767"/>
            <a:ext cx="3234900" cy="1749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2"/>
              </a:lnSpc>
              <a:spcBef>
                <a:spcPct val="0"/>
              </a:spcBef>
            </a:pPr>
            <a:r>
              <a:rPr lang="en-US" sz="1987" spc="-39">
                <a:solidFill>
                  <a:srgbClr val="F2F1FF"/>
                </a:solidFill>
                <a:latin typeface="Open Sauce"/>
                <a:ea typeface="Open Sauce"/>
                <a:cs typeface="Open Sauce"/>
                <a:sym typeface="Open Sauce"/>
              </a:rPr>
              <a:t>Take delivery details such as customer address, package quantity, vehicle capacity, and delivery time as input.</a:t>
            </a:r>
          </a:p>
        </p:txBody>
      </p:sp>
      <p:sp>
        <p:nvSpPr>
          <p:cNvPr id="26" name="AutoShape 26"/>
          <p:cNvSpPr/>
          <p:nvPr/>
        </p:nvSpPr>
        <p:spPr>
          <a:xfrm>
            <a:off x="1101690" y="2913830"/>
            <a:ext cx="3330920" cy="67486"/>
          </a:xfrm>
          <a:prstGeom prst="line">
            <a:avLst/>
          </a:prstGeom>
          <a:ln w="9525" cap="flat">
            <a:solidFill>
              <a:srgbClr val="526E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7" name="Group 27"/>
          <p:cNvGrpSpPr/>
          <p:nvPr/>
        </p:nvGrpSpPr>
        <p:grpSpPr>
          <a:xfrm>
            <a:off x="5060745" y="1921355"/>
            <a:ext cx="3954797" cy="3444116"/>
            <a:chOff x="0" y="0"/>
            <a:chExt cx="1041593" cy="907092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041593" cy="907092"/>
            </a:xfrm>
            <a:custGeom>
              <a:avLst/>
              <a:gdLst/>
              <a:ahLst/>
              <a:cxnLst/>
              <a:rect l="l" t="t" r="r" b="b"/>
              <a:pathLst>
                <a:path w="1041593" h="907092">
                  <a:moveTo>
                    <a:pt x="31322" y="0"/>
                  </a:moveTo>
                  <a:lnTo>
                    <a:pt x="1010271" y="0"/>
                  </a:lnTo>
                  <a:cubicBezTo>
                    <a:pt x="1018578" y="0"/>
                    <a:pt x="1026545" y="3300"/>
                    <a:pt x="1032419" y="9174"/>
                  </a:cubicBezTo>
                  <a:cubicBezTo>
                    <a:pt x="1038293" y="15048"/>
                    <a:pt x="1041593" y="23015"/>
                    <a:pt x="1041593" y="31322"/>
                  </a:cubicBezTo>
                  <a:lnTo>
                    <a:pt x="1041593" y="875771"/>
                  </a:lnTo>
                  <a:cubicBezTo>
                    <a:pt x="1041593" y="893069"/>
                    <a:pt x="1027569" y="907092"/>
                    <a:pt x="1010271" y="907092"/>
                  </a:cubicBezTo>
                  <a:lnTo>
                    <a:pt x="31322" y="907092"/>
                  </a:lnTo>
                  <a:cubicBezTo>
                    <a:pt x="23015" y="907092"/>
                    <a:pt x="15048" y="903792"/>
                    <a:pt x="9174" y="897918"/>
                  </a:cubicBezTo>
                  <a:cubicBezTo>
                    <a:pt x="3300" y="892044"/>
                    <a:pt x="0" y="884078"/>
                    <a:pt x="0" y="875771"/>
                  </a:cubicBezTo>
                  <a:lnTo>
                    <a:pt x="0" y="31322"/>
                  </a:lnTo>
                  <a:cubicBezTo>
                    <a:pt x="0" y="23015"/>
                    <a:pt x="3300" y="15048"/>
                    <a:pt x="9174" y="9174"/>
                  </a:cubicBezTo>
                  <a:cubicBezTo>
                    <a:pt x="15048" y="3300"/>
                    <a:pt x="23015" y="0"/>
                    <a:pt x="31322" y="0"/>
                  </a:cubicBezTo>
                  <a:close/>
                </a:path>
              </a:pathLst>
            </a:custGeom>
            <a:solidFill>
              <a:srgbClr val="231D60"/>
            </a:solidFill>
            <a:ln w="9525" cap="sq">
              <a:solidFill>
                <a:srgbClr val="5C56A4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0" y="-28575"/>
              <a:ext cx="1041593" cy="9356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9287876" y="1921355"/>
            <a:ext cx="3954797" cy="3444116"/>
            <a:chOff x="0" y="0"/>
            <a:chExt cx="1041593" cy="907092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041593" cy="907092"/>
            </a:xfrm>
            <a:custGeom>
              <a:avLst/>
              <a:gdLst/>
              <a:ahLst/>
              <a:cxnLst/>
              <a:rect l="l" t="t" r="r" b="b"/>
              <a:pathLst>
                <a:path w="1041593" h="907092">
                  <a:moveTo>
                    <a:pt x="31322" y="0"/>
                  </a:moveTo>
                  <a:lnTo>
                    <a:pt x="1010271" y="0"/>
                  </a:lnTo>
                  <a:cubicBezTo>
                    <a:pt x="1018578" y="0"/>
                    <a:pt x="1026545" y="3300"/>
                    <a:pt x="1032419" y="9174"/>
                  </a:cubicBezTo>
                  <a:cubicBezTo>
                    <a:pt x="1038293" y="15048"/>
                    <a:pt x="1041593" y="23015"/>
                    <a:pt x="1041593" y="31322"/>
                  </a:cubicBezTo>
                  <a:lnTo>
                    <a:pt x="1041593" y="875771"/>
                  </a:lnTo>
                  <a:cubicBezTo>
                    <a:pt x="1041593" y="893069"/>
                    <a:pt x="1027569" y="907092"/>
                    <a:pt x="1010271" y="907092"/>
                  </a:cubicBezTo>
                  <a:lnTo>
                    <a:pt x="31322" y="907092"/>
                  </a:lnTo>
                  <a:cubicBezTo>
                    <a:pt x="23015" y="907092"/>
                    <a:pt x="15048" y="903792"/>
                    <a:pt x="9174" y="897918"/>
                  </a:cubicBezTo>
                  <a:cubicBezTo>
                    <a:pt x="3300" y="892044"/>
                    <a:pt x="0" y="884078"/>
                    <a:pt x="0" y="875771"/>
                  </a:cubicBezTo>
                  <a:lnTo>
                    <a:pt x="0" y="31322"/>
                  </a:lnTo>
                  <a:cubicBezTo>
                    <a:pt x="0" y="23015"/>
                    <a:pt x="3300" y="15048"/>
                    <a:pt x="9174" y="9174"/>
                  </a:cubicBezTo>
                  <a:cubicBezTo>
                    <a:pt x="15048" y="3300"/>
                    <a:pt x="23015" y="0"/>
                    <a:pt x="31322" y="0"/>
                  </a:cubicBezTo>
                  <a:close/>
                </a:path>
              </a:pathLst>
            </a:custGeom>
            <a:solidFill>
              <a:srgbClr val="231D60"/>
            </a:solidFill>
            <a:ln w="9525" cap="sq">
              <a:solidFill>
                <a:srgbClr val="5C56A4"/>
              </a:solidFill>
              <a:prstDash val="solid"/>
              <a:miter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-28575"/>
              <a:ext cx="1041593" cy="9356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165520" y="5916882"/>
            <a:ext cx="3954797" cy="3444116"/>
            <a:chOff x="0" y="0"/>
            <a:chExt cx="1041593" cy="907092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041593" cy="907092"/>
            </a:xfrm>
            <a:custGeom>
              <a:avLst/>
              <a:gdLst/>
              <a:ahLst/>
              <a:cxnLst/>
              <a:rect l="l" t="t" r="r" b="b"/>
              <a:pathLst>
                <a:path w="1041593" h="907092">
                  <a:moveTo>
                    <a:pt x="31322" y="0"/>
                  </a:moveTo>
                  <a:lnTo>
                    <a:pt x="1010271" y="0"/>
                  </a:lnTo>
                  <a:cubicBezTo>
                    <a:pt x="1018578" y="0"/>
                    <a:pt x="1026545" y="3300"/>
                    <a:pt x="1032419" y="9174"/>
                  </a:cubicBezTo>
                  <a:cubicBezTo>
                    <a:pt x="1038293" y="15048"/>
                    <a:pt x="1041593" y="23015"/>
                    <a:pt x="1041593" y="31322"/>
                  </a:cubicBezTo>
                  <a:lnTo>
                    <a:pt x="1041593" y="875771"/>
                  </a:lnTo>
                  <a:cubicBezTo>
                    <a:pt x="1041593" y="893069"/>
                    <a:pt x="1027569" y="907092"/>
                    <a:pt x="1010271" y="907092"/>
                  </a:cubicBezTo>
                  <a:lnTo>
                    <a:pt x="31322" y="907092"/>
                  </a:lnTo>
                  <a:cubicBezTo>
                    <a:pt x="23015" y="907092"/>
                    <a:pt x="15048" y="903792"/>
                    <a:pt x="9174" y="897918"/>
                  </a:cubicBezTo>
                  <a:cubicBezTo>
                    <a:pt x="3300" y="892044"/>
                    <a:pt x="0" y="884078"/>
                    <a:pt x="0" y="875771"/>
                  </a:cubicBezTo>
                  <a:lnTo>
                    <a:pt x="0" y="31322"/>
                  </a:lnTo>
                  <a:cubicBezTo>
                    <a:pt x="0" y="23015"/>
                    <a:pt x="3300" y="15048"/>
                    <a:pt x="9174" y="9174"/>
                  </a:cubicBezTo>
                  <a:cubicBezTo>
                    <a:pt x="15048" y="3300"/>
                    <a:pt x="23015" y="0"/>
                    <a:pt x="31322" y="0"/>
                  </a:cubicBezTo>
                  <a:close/>
                </a:path>
              </a:pathLst>
            </a:custGeom>
            <a:solidFill>
              <a:srgbClr val="231D60"/>
            </a:solidFill>
            <a:ln w="9525" cap="sq">
              <a:solidFill>
                <a:srgbClr val="5C56A4"/>
              </a:solidFill>
              <a:prstDash val="solid"/>
              <a:miter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0" y="-28575"/>
              <a:ext cx="1041593" cy="9356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60210" y="5916882"/>
            <a:ext cx="3954797" cy="3444116"/>
            <a:chOff x="0" y="0"/>
            <a:chExt cx="1041593" cy="907092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041593" cy="907092"/>
            </a:xfrm>
            <a:custGeom>
              <a:avLst/>
              <a:gdLst/>
              <a:ahLst/>
              <a:cxnLst/>
              <a:rect l="l" t="t" r="r" b="b"/>
              <a:pathLst>
                <a:path w="1041593" h="907092">
                  <a:moveTo>
                    <a:pt x="31322" y="0"/>
                  </a:moveTo>
                  <a:lnTo>
                    <a:pt x="1010271" y="0"/>
                  </a:lnTo>
                  <a:cubicBezTo>
                    <a:pt x="1018578" y="0"/>
                    <a:pt x="1026545" y="3300"/>
                    <a:pt x="1032419" y="9174"/>
                  </a:cubicBezTo>
                  <a:cubicBezTo>
                    <a:pt x="1038293" y="15048"/>
                    <a:pt x="1041593" y="23015"/>
                    <a:pt x="1041593" y="31322"/>
                  </a:cubicBezTo>
                  <a:lnTo>
                    <a:pt x="1041593" y="875771"/>
                  </a:lnTo>
                  <a:cubicBezTo>
                    <a:pt x="1041593" y="893069"/>
                    <a:pt x="1027569" y="907092"/>
                    <a:pt x="1010271" y="907092"/>
                  </a:cubicBezTo>
                  <a:lnTo>
                    <a:pt x="31322" y="907092"/>
                  </a:lnTo>
                  <a:cubicBezTo>
                    <a:pt x="23015" y="907092"/>
                    <a:pt x="15048" y="903792"/>
                    <a:pt x="9174" y="897918"/>
                  </a:cubicBezTo>
                  <a:cubicBezTo>
                    <a:pt x="3300" y="892044"/>
                    <a:pt x="0" y="884078"/>
                    <a:pt x="0" y="875771"/>
                  </a:cubicBezTo>
                  <a:lnTo>
                    <a:pt x="0" y="31322"/>
                  </a:lnTo>
                  <a:cubicBezTo>
                    <a:pt x="0" y="23015"/>
                    <a:pt x="3300" y="15048"/>
                    <a:pt x="9174" y="9174"/>
                  </a:cubicBezTo>
                  <a:cubicBezTo>
                    <a:pt x="15048" y="3300"/>
                    <a:pt x="23015" y="0"/>
                    <a:pt x="31322" y="0"/>
                  </a:cubicBezTo>
                  <a:close/>
                </a:path>
              </a:pathLst>
            </a:custGeom>
            <a:solidFill>
              <a:srgbClr val="231D60"/>
            </a:solidFill>
            <a:ln w="9525" cap="sq">
              <a:solidFill>
                <a:srgbClr val="5C56A4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0" y="-28575"/>
              <a:ext cx="1041593" cy="9356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39" name="AutoShape 39"/>
          <p:cNvSpPr/>
          <p:nvPr/>
        </p:nvSpPr>
        <p:spPr>
          <a:xfrm>
            <a:off x="5586997" y="3029014"/>
            <a:ext cx="3159209" cy="0"/>
          </a:xfrm>
          <a:prstGeom prst="line">
            <a:avLst/>
          </a:prstGeom>
          <a:ln w="9525" cap="flat">
            <a:solidFill>
              <a:srgbClr val="526E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0" name="AutoShape 40"/>
          <p:cNvSpPr/>
          <p:nvPr/>
        </p:nvSpPr>
        <p:spPr>
          <a:xfrm>
            <a:off x="9748966" y="2981316"/>
            <a:ext cx="3159209" cy="0"/>
          </a:xfrm>
          <a:prstGeom prst="line">
            <a:avLst/>
          </a:prstGeom>
          <a:ln w="9525" cap="flat">
            <a:solidFill>
              <a:srgbClr val="526E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1" name="AutoShape 41"/>
          <p:cNvSpPr/>
          <p:nvPr/>
        </p:nvSpPr>
        <p:spPr>
          <a:xfrm>
            <a:off x="5563314" y="6903759"/>
            <a:ext cx="3159209" cy="0"/>
          </a:xfrm>
          <a:prstGeom prst="line">
            <a:avLst/>
          </a:prstGeom>
          <a:ln w="9525" cap="flat">
            <a:solidFill>
              <a:srgbClr val="526E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2" name="AutoShape 42"/>
          <p:cNvSpPr/>
          <p:nvPr/>
        </p:nvSpPr>
        <p:spPr>
          <a:xfrm>
            <a:off x="10146248" y="7113754"/>
            <a:ext cx="3159209" cy="0"/>
          </a:xfrm>
          <a:prstGeom prst="line">
            <a:avLst/>
          </a:prstGeom>
          <a:ln w="9525" cap="flat">
            <a:solidFill>
              <a:srgbClr val="526E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3" name="TextBox 43"/>
          <p:cNvSpPr txBox="1"/>
          <p:nvPr/>
        </p:nvSpPr>
        <p:spPr>
          <a:xfrm>
            <a:off x="5165520" y="6318303"/>
            <a:ext cx="3954797" cy="380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2"/>
              </a:lnSpc>
            </a:pPr>
            <a:r>
              <a:rPr lang="en-US" sz="2800" spc="-112">
                <a:solidFill>
                  <a:srgbClr val="F2F1FF"/>
                </a:solidFill>
                <a:latin typeface="Open Sauce"/>
                <a:ea typeface="Open Sauce"/>
                <a:cs typeface="Open Sauce"/>
                <a:sym typeface="Open Sauce"/>
              </a:rPr>
              <a:t>Check Constraints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9433907" y="6175795"/>
            <a:ext cx="3954797" cy="742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2"/>
              </a:lnSpc>
            </a:pPr>
            <a:r>
              <a:rPr lang="en-US" sz="2800" spc="-112">
                <a:solidFill>
                  <a:srgbClr val="F2F1FF"/>
                </a:solidFill>
                <a:latin typeface="Open Sauce"/>
                <a:ea typeface="Open Sauce"/>
                <a:cs typeface="Open Sauce"/>
                <a:sym typeface="Open Sauce"/>
              </a:rPr>
              <a:t> Calculate Cost and Quality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5458539" y="2280300"/>
            <a:ext cx="3159216" cy="380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2"/>
              </a:lnSpc>
            </a:pPr>
            <a:r>
              <a:rPr lang="en-US" sz="2800" spc="-112">
                <a:solidFill>
                  <a:srgbClr val="F2F1FF"/>
                </a:solidFill>
                <a:latin typeface="Open Sauce"/>
                <a:ea typeface="Open Sauce"/>
                <a:cs typeface="Open Sauce"/>
                <a:sym typeface="Open Sauce"/>
              </a:rPr>
              <a:t>Clean the Data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9644191" y="2180659"/>
            <a:ext cx="3159216" cy="6910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4"/>
              </a:lnSpc>
            </a:pPr>
            <a:r>
              <a:rPr lang="en-US" sz="2600" spc="-104">
                <a:solidFill>
                  <a:srgbClr val="F2F1FF"/>
                </a:solidFill>
                <a:latin typeface="Open Sauce"/>
                <a:ea typeface="Open Sauce"/>
                <a:cs typeface="Open Sauce"/>
                <a:sym typeface="Open Sauce"/>
              </a:rPr>
              <a:t>Convert Addresses to Locations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500010" y="3357627"/>
            <a:ext cx="3159216" cy="1323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 spc="-37">
                <a:solidFill>
                  <a:srgbClr val="F2F1FF"/>
                </a:solidFill>
                <a:latin typeface="Open Sauce"/>
                <a:ea typeface="Open Sauce"/>
                <a:cs typeface="Open Sauce"/>
                <a:sym typeface="Open Sauce"/>
              </a:rPr>
              <a:t>Remove duplicate, incomplete, and incorrectly formatted addresses to make the data reliable.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9787066" y="3357627"/>
            <a:ext cx="3125711" cy="1309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1"/>
              </a:lnSpc>
              <a:spcBef>
                <a:spcPct val="0"/>
              </a:spcBef>
            </a:pPr>
            <a:r>
              <a:rPr lang="en-US" sz="1879" spc="-37">
                <a:solidFill>
                  <a:srgbClr val="F2F1FF"/>
                </a:solidFill>
                <a:latin typeface="Open Sauce"/>
                <a:ea typeface="Open Sauce"/>
                <a:cs typeface="Open Sauce"/>
                <a:sym typeface="Open Sauce"/>
              </a:rPr>
              <a:t>Convert the cleaned addresses into latitude and longitude coordinates using a geocoding service.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5500010" y="7156249"/>
            <a:ext cx="3159216" cy="1931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5439" lvl="1" indent="-172720" algn="l">
              <a:lnSpc>
                <a:spcPts val="2239"/>
              </a:lnSpc>
              <a:buFont typeface="Arial"/>
              <a:buChar char="•"/>
            </a:pPr>
            <a:r>
              <a:rPr lang="en-US" sz="1599" spc="-31">
                <a:solidFill>
                  <a:srgbClr val="F2F1FF"/>
                </a:solidFill>
                <a:latin typeface="Open Sauce"/>
                <a:ea typeface="Open Sauce"/>
                <a:cs typeface="Open Sauce"/>
                <a:sym typeface="Open Sauce"/>
              </a:rPr>
              <a:t>Vehicle capacity is not exceeded.</a:t>
            </a:r>
          </a:p>
          <a:p>
            <a:pPr marL="345439" lvl="1" indent="-172720" algn="l">
              <a:lnSpc>
                <a:spcPts val="2239"/>
              </a:lnSpc>
              <a:buFont typeface="Arial"/>
              <a:buChar char="•"/>
            </a:pPr>
            <a:r>
              <a:rPr lang="en-US" sz="1599" spc="-31">
                <a:solidFill>
                  <a:srgbClr val="F2F1FF"/>
                </a:solidFill>
                <a:latin typeface="Open Sauce"/>
                <a:ea typeface="Open Sauce"/>
                <a:cs typeface="Open Sauce"/>
                <a:sym typeface="Open Sauce"/>
              </a:rPr>
              <a:t>Deliveries are made within the required time windows.</a:t>
            </a:r>
          </a:p>
          <a:p>
            <a:pPr marL="345439" lvl="1" indent="-172720" algn="l">
              <a:lnSpc>
                <a:spcPts val="2239"/>
              </a:lnSpc>
              <a:buFont typeface="Arial"/>
              <a:buChar char="•"/>
            </a:pPr>
            <a:r>
              <a:rPr lang="en-US" sz="1599" spc="-31">
                <a:solidFill>
                  <a:srgbClr val="F2F1FF"/>
                </a:solidFill>
                <a:latin typeface="Open Sauce"/>
                <a:ea typeface="Open Sauce"/>
                <a:cs typeface="Open Sauce"/>
                <a:sym typeface="Open Sauce"/>
              </a:rPr>
              <a:t>Unnecessary distance and travel time are reduced.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endParaRPr lang="en-US" sz="1599" spc="-31">
              <a:solidFill>
                <a:srgbClr val="F2F1FF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50" name="TextBox 50"/>
          <p:cNvSpPr txBox="1"/>
          <p:nvPr/>
        </p:nvSpPr>
        <p:spPr>
          <a:xfrm>
            <a:off x="10083456" y="7392749"/>
            <a:ext cx="3159216" cy="1654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5439" lvl="1" indent="-172720" algn="l">
              <a:lnSpc>
                <a:spcPts val="2239"/>
              </a:lnSpc>
              <a:buFont typeface="Arial"/>
              <a:buChar char="•"/>
            </a:pPr>
            <a:r>
              <a:rPr lang="en-US" sz="1599" spc="-31">
                <a:solidFill>
                  <a:srgbClr val="F2F1FF"/>
                </a:solidFill>
                <a:latin typeface="Open Sauce"/>
                <a:ea typeface="Open Sauce"/>
                <a:cs typeface="Open Sauce"/>
                <a:sym typeface="Open Sauce"/>
              </a:rPr>
              <a:t>Total distance</a:t>
            </a:r>
          </a:p>
          <a:p>
            <a:pPr marL="345439" lvl="1" indent="-172720" algn="l">
              <a:lnSpc>
                <a:spcPts val="2239"/>
              </a:lnSpc>
              <a:buFont typeface="Arial"/>
              <a:buChar char="•"/>
            </a:pPr>
            <a:r>
              <a:rPr lang="en-US" sz="1599" spc="-31">
                <a:solidFill>
                  <a:srgbClr val="F2F1FF"/>
                </a:solidFill>
                <a:latin typeface="Open Sauce"/>
                <a:ea typeface="Open Sauce"/>
                <a:cs typeface="Open Sauce"/>
                <a:sym typeface="Open Sauce"/>
              </a:rPr>
              <a:t>Travel time</a:t>
            </a:r>
          </a:p>
          <a:p>
            <a:pPr marL="345439" lvl="1" indent="-172720" algn="l">
              <a:lnSpc>
                <a:spcPts val="2239"/>
              </a:lnSpc>
              <a:buFont typeface="Arial"/>
              <a:buChar char="•"/>
            </a:pPr>
            <a:r>
              <a:rPr lang="en-US" sz="1599" spc="-31">
                <a:solidFill>
                  <a:srgbClr val="F2F1FF"/>
                </a:solidFill>
                <a:latin typeface="Open Sauce"/>
                <a:ea typeface="Open Sauce"/>
                <a:cs typeface="Open Sauce"/>
                <a:sym typeface="Open Sauce"/>
              </a:rPr>
              <a:t>Estimated cost</a:t>
            </a:r>
          </a:p>
          <a:p>
            <a:pPr marL="345439" lvl="1" indent="-172720" algn="l">
              <a:lnSpc>
                <a:spcPts val="2239"/>
              </a:lnSpc>
              <a:buFont typeface="Arial"/>
              <a:buChar char="•"/>
            </a:pPr>
            <a:r>
              <a:rPr lang="en-US" sz="1599" spc="-31">
                <a:solidFill>
                  <a:srgbClr val="F2F1FF"/>
                </a:solidFill>
                <a:latin typeface="Open Sauce"/>
                <a:ea typeface="Open Sauce"/>
                <a:cs typeface="Open Sauce"/>
                <a:sym typeface="Open Sauce"/>
              </a:rPr>
              <a:t>Vehicle utilization</a:t>
            </a:r>
          </a:p>
          <a:p>
            <a:pPr marL="345439" lvl="1" indent="-172720" algn="l">
              <a:lnSpc>
                <a:spcPts val="2239"/>
              </a:lnSpc>
              <a:buFont typeface="Arial"/>
              <a:buChar char="•"/>
            </a:pPr>
            <a:r>
              <a:rPr lang="en-US" sz="1599" spc="-31">
                <a:solidFill>
                  <a:srgbClr val="F2F1FF"/>
                </a:solidFill>
                <a:latin typeface="Open Sauce"/>
                <a:ea typeface="Open Sauce"/>
                <a:cs typeface="Open Sauce"/>
                <a:sym typeface="Open Sauce"/>
              </a:rPr>
              <a:t>Time-window violations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endParaRPr lang="en-US" sz="1599" spc="-31">
              <a:solidFill>
                <a:srgbClr val="F2F1FF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51" name="TextBox 51"/>
          <p:cNvSpPr txBox="1"/>
          <p:nvPr/>
        </p:nvSpPr>
        <p:spPr>
          <a:xfrm>
            <a:off x="14048177" y="3343441"/>
            <a:ext cx="3335590" cy="1323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9"/>
              </a:lnSpc>
              <a:spcBef>
                <a:spcPct val="0"/>
              </a:spcBef>
            </a:pPr>
            <a:r>
              <a:rPr lang="en-US" sz="1878" spc="-37">
                <a:solidFill>
                  <a:srgbClr val="F2F1FF"/>
                </a:solidFill>
                <a:latin typeface="Open Sauce"/>
                <a:ea typeface="Open Sauce"/>
                <a:cs typeface="Open Sauce"/>
                <a:sym typeface="Open Sauce"/>
              </a:rPr>
              <a:t>Distribute delivery stops among available vehicles based on vehicle capacity and delivery requirements.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C3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4304787"/>
            <a:ext cx="6563575" cy="3524763"/>
            <a:chOff x="0" y="0"/>
            <a:chExt cx="1728678" cy="928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28678" cy="928333"/>
            </a:xfrm>
            <a:custGeom>
              <a:avLst/>
              <a:gdLst/>
              <a:ahLst/>
              <a:cxnLst/>
              <a:rect l="l" t="t" r="r" b="b"/>
              <a:pathLst>
                <a:path w="1728678" h="928333">
                  <a:moveTo>
                    <a:pt x="18872" y="0"/>
                  </a:moveTo>
                  <a:lnTo>
                    <a:pt x="1709806" y="0"/>
                  </a:lnTo>
                  <a:cubicBezTo>
                    <a:pt x="1720229" y="0"/>
                    <a:pt x="1728678" y="8449"/>
                    <a:pt x="1728678" y="18872"/>
                  </a:cubicBezTo>
                  <a:lnTo>
                    <a:pt x="1728678" y="909460"/>
                  </a:lnTo>
                  <a:cubicBezTo>
                    <a:pt x="1728678" y="919883"/>
                    <a:pt x="1720229" y="928333"/>
                    <a:pt x="1709806" y="928333"/>
                  </a:cubicBezTo>
                  <a:lnTo>
                    <a:pt x="18872" y="928333"/>
                  </a:lnTo>
                  <a:cubicBezTo>
                    <a:pt x="8449" y="928333"/>
                    <a:pt x="0" y="919883"/>
                    <a:pt x="0" y="909460"/>
                  </a:cubicBezTo>
                  <a:lnTo>
                    <a:pt x="0" y="18872"/>
                  </a:lnTo>
                  <a:cubicBezTo>
                    <a:pt x="0" y="8449"/>
                    <a:pt x="8449" y="0"/>
                    <a:pt x="18872" y="0"/>
                  </a:cubicBezTo>
                  <a:close/>
                </a:path>
              </a:pathLst>
            </a:custGeom>
            <a:solidFill>
              <a:srgbClr val="231D60"/>
            </a:solidFill>
            <a:ln w="9525" cap="sq">
              <a:solidFill>
                <a:srgbClr val="5C56A4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728678" cy="956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flipH="1">
            <a:off x="8697175" y="1319275"/>
            <a:ext cx="8333525" cy="7091073"/>
          </a:xfrm>
          <a:custGeom>
            <a:avLst/>
            <a:gdLst/>
            <a:ahLst/>
            <a:cxnLst/>
            <a:rect l="l" t="t" r="r" b="b"/>
            <a:pathLst>
              <a:path w="8333525" h="7091073">
                <a:moveTo>
                  <a:pt x="8333525" y="0"/>
                </a:moveTo>
                <a:lnTo>
                  <a:pt x="0" y="0"/>
                </a:lnTo>
                <a:lnTo>
                  <a:pt x="0" y="7091073"/>
                </a:lnTo>
                <a:lnTo>
                  <a:pt x="8333525" y="7091073"/>
                </a:lnTo>
                <a:lnTo>
                  <a:pt x="833352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0006789" y="2071699"/>
            <a:ext cx="7652561" cy="6963831"/>
          </a:xfrm>
          <a:custGeom>
            <a:avLst/>
            <a:gdLst/>
            <a:ahLst/>
            <a:cxnLst/>
            <a:rect l="l" t="t" r="r" b="b"/>
            <a:pathLst>
              <a:path w="7652561" h="6963831">
                <a:moveTo>
                  <a:pt x="0" y="0"/>
                </a:moveTo>
                <a:lnTo>
                  <a:pt x="7652561" y="0"/>
                </a:lnTo>
                <a:lnTo>
                  <a:pt x="7652561" y="6963831"/>
                </a:lnTo>
                <a:lnTo>
                  <a:pt x="0" y="69638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AutoShape 7"/>
          <p:cNvSpPr/>
          <p:nvPr/>
        </p:nvSpPr>
        <p:spPr>
          <a:xfrm>
            <a:off x="2084645" y="5532338"/>
            <a:ext cx="3403916" cy="0"/>
          </a:xfrm>
          <a:prstGeom prst="line">
            <a:avLst/>
          </a:prstGeom>
          <a:ln w="9525" cap="flat">
            <a:solidFill>
              <a:srgbClr val="526E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TextBox 8"/>
          <p:cNvSpPr txBox="1"/>
          <p:nvPr/>
        </p:nvSpPr>
        <p:spPr>
          <a:xfrm>
            <a:off x="1503807" y="1636239"/>
            <a:ext cx="7363675" cy="16805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726"/>
              </a:lnSpc>
            </a:pPr>
            <a:r>
              <a:rPr lang="en-US" sz="12236" spc="-489">
                <a:solidFill>
                  <a:srgbClr val="F2F1FF"/>
                </a:solidFill>
                <a:latin typeface="Open Sauce"/>
                <a:ea typeface="Open Sauce"/>
                <a:cs typeface="Open Sauce"/>
                <a:sym typeface="Open Sauce"/>
              </a:rPr>
              <a:t>Thank You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766554" y="4799561"/>
            <a:ext cx="5975459" cy="380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12"/>
              </a:lnSpc>
            </a:pPr>
            <a:r>
              <a:rPr lang="en-US" sz="2800" b="1" spc="-112" dirty="0">
                <a:solidFill>
                  <a:srgbClr val="F2F1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Presented  By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32620" y="5956022"/>
            <a:ext cx="2209610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2F1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M. LAASYA SRI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250406" y="5956022"/>
            <a:ext cx="3101585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2F1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2520090196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32620" y="6733918"/>
            <a:ext cx="1809560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2F1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M. RAJINI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250406" y="6733918"/>
            <a:ext cx="2476310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2F1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2520090197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571</TotalTime>
  <Words>593</Words>
  <Application>Microsoft Office PowerPoint</Application>
  <PresentationFormat>Custom</PresentationFormat>
  <Paragraphs>91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Helvetica World</vt:lpstr>
      <vt:lpstr>Open Sauce Bold</vt:lpstr>
      <vt:lpstr>Arial</vt:lpstr>
      <vt:lpstr>Fredoka</vt:lpstr>
      <vt:lpstr>Calibri</vt:lpstr>
      <vt:lpstr>Open Sauce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Purple and White Modern Delivery Services Presentation</dc:title>
  <dc:creator>RAJINI</dc:creator>
  <cp:lastModifiedBy>muddaipetarajini@outlook.com</cp:lastModifiedBy>
  <cp:revision>5</cp:revision>
  <dcterms:created xsi:type="dcterms:W3CDTF">2006-08-16T00:00:00Z</dcterms:created>
  <dcterms:modified xsi:type="dcterms:W3CDTF">2026-09-11T03:54:29Z</dcterms:modified>
  <dc:identifier>DAHTdoi3frI</dc:identifier>
</cp:coreProperties>
</file>